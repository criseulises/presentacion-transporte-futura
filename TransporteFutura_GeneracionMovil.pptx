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4"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0934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Transporte Futura es la plataforma de Ampirics Technologies que se adapta al proyecto Generación Móvil de Entrena. Comunidades: Los Alcarrizos y La Guayiga. Público: jóvenes de 14 a 18 años en 40 liceos.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Transporte Futura nació en el Hackathon CreaRD, reto de ciudades inteligentes y movilidad urbana, donde el equipo obtuvo el segundo lugar y un premio de RD$150,000. Es la base sobre la que se monta Generación Móvil.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ocho módulos se ordenan por el peso que cargan: los dos primeros producen la información, el tercero la muestra, y el cuarto y el quinto sostienen legal y éticamente todo lo demás. Capturar, mostrar, actuar; y lo sostienen el consentimiento y la accesibilidad.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saber cuánta gente se mueve, cómo, con cuántas personas y por dónde. Es el módulo que produce el dato del que dependen los demás. Cómo: un registro de dos toques desde cinco puntos distintos. Valor: indicadores desagregados sin encuestas en papel y medición real de la brecha digital. Se desarrolla reutilizando el tablero de indicadores ya construido.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que la participación ciudadana sea una acción de tres toques. Cómo: punto en el mapa, categoría y foto opcional del entorno; el reporte avanza por tres estados visibles. Valor: datos desde el territorio para priorizar intervenciones con evidencia. El protocolo de validación se acuerda con Entrena y las autoridades antes de abrirlo.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integrar en una sola vista toda la información de movilidad que pide la actividad A3.4. Cómo: seis capas activables sobre el mapa, cada una con una vista en lista. Valor: convierte el levantamiento en información viva y es la superficie sobre la que se reporta y se monitorea.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consentimiento informado y accesibilidad desde el primer uso. Cómo: cuatro pasos en lenguaje claro con nivel de lectura de secundaria. Valor: cumplimiento verificable de la Ley 172-13. Los textos se validan con los jóvenes en el proceso participativo.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que los derechos sean una función visible. Cómo: cada persona define su rol, activa sus preferencias de accesibilidad, gestiona su consentimiento y puede borrar su cuenta desde la app. Valor: indicadores desagregados sin obligar a nadie a declarar nada.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llevar la teoría de cambio a la práctica cotidiana. Cómo: itinerario paso a paso donde cada cruce seguro aparece como una parada más, con tramos etiquetados y filtro de ruta accesible. Valor: menos improvisación y el uso diario que sostiene a la Bitácora. La posición en tiempo real llega en una fase posterior, con la OPRET y el INTRANT.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cerrar el ciclo. Cómo: alertas por zona escolar que expiran solas, y recomendaciones breves que Entrena redacta y edita desde el panel sin programar. Valor: comunicación directa con la red de jóvenes de Juventud en Tránsito.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unir el componente educativo con el uso real. Cómo: niveles, puntos e insignias, retos cortos y un banco de preguntas administrado por Entrena. Valor: motiva a la red de jóvenes y deja evidencia de aprendizaje. El contenido se co-crea con Entrena en una fase posterior, como se acordó.</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accesibilidad no es un módulo separado sino el criterio de aceptación de cada pantalla. La inclusión de género se responde con datos, siempre agregados. Los datos de menores se protegen con consentimiento informado, minimización de datos y derecho a borrar la cuenta. Antes de la implementación se acuerda por escrito qué institución custodia los datos.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niveles de acceso: versión web sin instalar, punto de registro con tableta y carnet en cada liceo, y mapas impresos de rutas seguras. Como cada registro guarda por dónde entró, la brecha digital se convierte en un indicador reportable.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de gestión es donde Entrena e INTRANT ven, filtran y exportan los indicadores, y donde se edita el contenido sin programar. Ampirics capacita al equipo de Entrena en su uso.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conecta la descripción de módulos con las actividades A3.1 a A3.6 del formulario de la Unión Europea. Diana adapta la redacción al formato exigido.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Ampirics entrega la descripción de módulos y la estructura de costos en documento aparte. Entrena incorpora la solución en el formulario de la Unión Europea y lidera el trabajo con las comunidades. Contacto: contacto@ampirics.com.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8170164" y="2413102"/>
            <a:ext cx="5672938" cy="5672938"/>
          </a:xfrm>
          <a:prstGeom prst="ellipse">
            <a:avLst/>
          </a:prstGeom>
          <a:solidFill>
            <a:srgbClr val="F68C12"/>
          </a:solidFill>
          <a:ln w="12700">
            <a:solidFill>
              <a:srgbClr val="F68C12">
                <a:alpha val="0"/>
              </a:srgbClr>
            </a:solidFill>
            <a:prstDash val="solid"/>
          </a:ln>
        </p:spPr>
        <p:txBody>
          <a:bodyPr/>
          <a:lstStyle/>
          <a:p>
            <a:endParaRPr lang="en-US"/>
          </a:p>
        </p:txBody>
      </p:sp>
      <p:sp>
        <p:nvSpPr>
          <p:cNvPr id="3"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4"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endParaRPr lang="en-US" sz="1400" dirty="0"/>
          </a:p>
        </p:txBody>
      </p:sp>
      <p:sp>
        <p:nvSpPr>
          <p:cNvPr id="5"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6"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7"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8"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01 / 19</a:t>
            </a:r>
            <a:endParaRPr lang="en-US" sz="800" dirty="0"/>
          </a:p>
        </p:txBody>
      </p:sp>
      <p:sp>
        <p:nvSpPr>
          <p:cNvPr id="9" name="bg-timeline"/>
          <p:cNvSpPr/>
          <p:nvPr/>
        </p:nvSpPr>
        <p:spPr>
          <a:xfrm>
            <a:off x="0" y="6307531"/>
            <a:ext cx="641909" cy="0"/>
          </a:xfrm>
          <a:prstGeom prst="line">
            <a:avLst/>
          </a:prstGeom>
          <a:noFill/>
          <a:ln w="19050">
            <a:solidFill>
              <a:srgbClr val="F68C12"/>
            </a:solidFill>
            <a:prstDash val="solid"/>
          </a:ln>
        </p:spPr>
        <p:txBody>
          <a:bodyPr/>
          <a:lstStyle/>
          <a:p>
            <a:endParaRPr lang="en-US"/>
          </a:p>
        </p:txBody>
      </p:sp>
      <p:pic>
        <p:nvPicPr>
          <p:cNvPr id="10" name="phone" descr="preencoded.png"/>
          <p:cNvPicPr>
            <a:picLocks noChangeAspect="1"/>
          </p:cNvPicPr>
          <p:nvPr/>
        </p:nvPicPr>
        <p:blipFill>
          <a:blip r:embed="rId3"/>
          <a:stretch>
            <a:fillRect/>
          </a:stretch>
        </p:blipFill>
        <p:spPr>
          <a:xfrm rot="300000">
            <a:off x="9474098" y="2133295"/>
            <a:ext cx="1964131" cy="3993185"/>
          </a:xfrm>
          <a:prstGeom prst="rect">
            <a:avLst/>
          </a:prstGeom>
          <a:effectLst>
            <a:outerShdw blurRad="228600" dist="101600" dir="5400000" algn="bl" rotWithShape="0">
              <a:srgbClr val="5E3719">
                <a:alpha val="22000"/>
              </a:srgbClr>
            </a:outerShdw>
          </a:effectLst>
        </p:spPr>
      </p:pic>
      <p:sp>
        <p:nvSpPr>
          <p:cNvPr id="11" name="eyebrow-line"/>
          <p:cNvSpPr/>
          <p:nvPr/>
        </p:nvSpPr>
        <p:spPr>
          <a:xfrm>
            <a:off x="643738" y="1548994"/>
            <a:ext cx="236830" cy="0"/>
          </a:xfrm>
          <a:prstGeom prst="line">
            <a:avLst/>
          </a:prstGeom>
          <a:noFill/>
          <a:ln w="19050">
            <a:solidFill>
              <a:srgbClr val="F68C12"/>
            </a:solidFill>
            <a:prstDash val="solid"/>
          </a:ln>
        </p:spPr>
        <p:txBody>
          <a:bodyPr/>
          <a:lstStyle/>
          <a:p>
            <a:endParaRPr lang="en-US"/>
          </a:p>
        </p:txBody>
      </p:sp>
      <p:sp>
        <p:nvSpPr>
          <p:cNvPr id="12" name="eyebrow"/>
          <p:cNvSpPr txBox="1"/>
          <p:nvPr/>
        </p:nvSpPr>
        <p:spPr>
          <a:xfrm>
            <a:off x="982066" y="1447495"/>
            <a:ext cx="5926226"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GENERACIÓN MÓVIL</a:t>
            </a:r>
            <a:endParaRPr lang="en-US" sz="850" dirty="0"/>
          </a:p>
        </p:txBody>
      </p:sp>
      <p:sp>
        <p:nvSpPr>
          <p:cNvPr id="13" name="title"/>
          <p:cNvSpPr txBox="1"/>
          <p:nvPr/>
        </p:nvSpPr>
        <p:spPr>
          <a:xfrm>
            <a:off x="643738" y="1735531"/>
            <a:ext cx="6772961" cy="1684325"/>
          </a:xfrm>
          <a:prstGeom prst="rect">
            <a:avLst/>
          </a:prstGeom>
          <a:noFill/>
          <a:ln/>
        </p:spPr>
        <p:txBody>
          <a:bodyPr wrap="square" lIns="0" tIns="0" rIns="0" bIns="0" rtlCol="0" anchor="t"/>
          <a:lstStyle/>
          <a:p>
            <a:pPr marL="0" indent="0">
              <a:lnSpc>
                <a:spcPct val="95000"/>
              </a:lnSpc>
              <a:buNone/>
            </a:pPr>
            <a:r>
              <a:rPr lang="en-US" sz="6000" b="1" kern="0" spc="-150" dirty="0">
                <a:solidFill>
                  <a:srgbClr val="282828"/>
                </a:solidFill>
                <a:latin typeface="Arial" pitchFamily="34" charset="0"/>
                <a:ea typeface="Arial" pitchFamily="34" charset="-122"/>
                <a:cs typeface="Arial" pitchFamily="34" charset="-120"/>
              </a:rPr>
              <a:t>Transporte</a:t>
            </a:r>
            <a:endParaRPr lang="en-US" sz="6000" dirty="0"/>
          </a:p>
          <a:p>
            <a:pPr marL="0" indent="0">
              <a:lnSpc>
                <a:spcPct val="95000"/>
              </a:lnSpc>
              <a:buNone/>
            </a:pPr>
            <a:r>
              <a:rPr lang="en-US" sz="6000" b="1" kern="0" spc="-150" dirty="0">
                <a:solidFill>
                  <a:srgbClr val="282828"/>
                </a:solidFill>
                <a:latin typeface="Arial" pitchFamily="34" charset="0"/>
                <a:ea typeface="Arial" pitchFamily="34" charset="-122"/>
                <a:cs typeface="Arial" pitchFamily="34" charset="-120"/>
              </a:rPr>
              <a:t>Futura</a:t>
            </a:r>
            <a:endParaRPr lang="en-US" sz="6000" dirty="0"/>
          </a:p>
        </p:txBody>
      </p:sp>
      <p:sp>
        <p:nvSpPr>
          <p:cNvPr id="14" name="lead"/>
          <p:cNvSpPr txBox="1"/>
          <p:nvPr/>
        </p:nvSpPr>
        <p:spPr>
          <a:xfrm>
            <a:off x="643738" y="3513125"/>
            <a:ext cx="5418734" cy="930859"/>
          </a:xfrm>
          <a:prstGeom prst="rect">
            <a:avLst/>
          </a:prstGeom>
          <a:noFill/>
          <a:ln/>
        </p:spPr>
        <p:txBody>
          <a:bodyPr wrap="square" lIns="0" tIns="0" rIns="0" bIns="0" rtlCol="0" anchor="t"/>
          <a:lstStyle/>
          <a:p>
            <a:pPr marL="0" indent="0">
              <a:lnSpc>
                <a:spcPct val="115000"/>
              </a:lnSpc>
              <a:buNone/>
            </a:pPr>
            <a:r>
              <a:rPr lang="en-US" sz="1600" dirty="0">
                <a:solidFill>
                  <a:srgbClr val="514B46"/>
                </a:solidFill>
                <a:latin typeface="Arial" pitchFamily="34" charset="0"/>
                <a:ea typeface="Arial" pitchFamily="34" charset="-122"/>
                <a:cs typeface="Arial" pitchFamily="34" charset="-120"/>
              </a:rPr>
              <a:t>La plataforma de </a:t>
            </a:r>
            <a:r>
              <a:rPr lang="en-US" sz="1600" dirty="0" err="1">
                <a:solidFill>
                  <a:srgbClr val="514B46"/>
                </a:solidFill>
                <a:latin typeface="Arial" pitchFamily="34" charset="0"/>
                <a:ea typeface="Arial" pitchFamily="34" charset="-122"/>
                <a:cs typeface="Arial" pitchFamily="34" charset="-120"/>
              </a:rPr>
              <a:t>Ampirics</a:t>
            </a:r>
            <a:r>
              <a:rPr lang="en-US" sz="1600" dirty="0">
                <a:solidFill>
                  <a:srgbClr val="514B46"/>
                </a:solidFill>
                <a:latin typeface="Arial" pitchFamily="34" charset="0"/>
                <a:ea typeface="Arial" pitchFamily="34" charset="-122"/>
                <a:cs typeface="Arial" pitchFamily="34" charset="-120"/>
              </a:rPr>
              <a:t>, adaptada a la movilidad cotidiana de los jóvenes de Los Alcarrizos y La Guayiga.</a:t>
            </a:r>
            <a:endParaRPr lang="en-US" sz="1600" dirty="0"/>
          </a:p>
        </p:txBody>
      </p:sp>
      <p:sp>
        <p:nvSpPr>
          <p:cNvPr id="15" name="cta"/>
          <p:cNvSpPr/>
          <p:nvPr/>
        </p:nvSpPr>
        <p:spPr>
          <a:xfrm>
            <a:off x="643738" y="4554626"/>
            <a:ext cx="1820570" cy="405994"/>
          </a:xfrm>
          <a:prstGeom prst="roundRect">
            <a:avLst>
              <a:gd name="adj" fmla="val 49550"/>
            </a:avLst>
          </a:prstGeom>
          <a:solidFill>
            <a:srgbClr val="282828"/>
          </a:solidFill>
          <a:ln w="12700">
            <a:solidFill>
              <a:srgbClr val="282828"/>
            </a:solidFill>
            <a:prstDash val="solid"/>
          </a:ln>
        </p:spPr>
        <p:txBody>
          <a:bodyPr/>
          <a:lstStyle/>
          <a:p>
            <a:endParaRPr lang="en-US"/>
          </a:p>
        </p:txBody>
      </p:sp>
      <p:sp>
        <p:nvSpPr>
          <p:cNvPr id="16" name="cta-t"/>
          <p:cNvSpPr txBox="1"/>
          <p:nvPr/>
        </p:nvSpPr>
        <p:spPr>
          <a:xfrm>
            <a:off x="643738" y="4554626"/>
            <a:ext cx="1820570" cy="405994"/>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Explorar la solución  </a:t>
            </a:r>
            <a:r>
              <a:rPr lang="en-US" sz="1050" b="1" dirty="0">
                <a:solidFill>
                  <a:srgbClr val="F68C12"/>
                </a:solidFill>
                <a:latin typeface="Arial" pitchFamily="34" charset="0"/>
                <a:ea typeface="Arial" pitchFamily="34" charset="-122"/>
                <a:cs typeface="Arial" pitchFamily="34" charset="-120"/>
              </a:rPr>
              <a:t>↗</a:t>
            </a:r>
            <a:endParaRPr lang="en-US" sz="1050" dirty="0"/>
          </a:p>
        </p:txBody>
      </p:sp>
      <p:sp>
        <p:nvSpPr>
          <p:cNvPr id="17" name="stat0"/>
          <p:cNvSpPr txBox="1"/>
          <p:nvPr/>
        </p:nvSpPr>
        <p:spPr>
          <a:xfrm>
            <a:off x="643738" y="5291633"/>
            <a:ext cx="1904695" cy="423367"/>
          </a:xfrm>
          <a:prstGeom prst="rect">
            <a:avLst/>
          </a:prstGeom>
          <a:noFill/>
          <a:ln/>
        </p:spPr>
        <p:txBody>
          <a:bodyPr wrap="square" lIns="0" tIns="0" rIns="0" bIns="0" rtlCol="0" anchor="t"/>
          <a:lstStyle/>
          <a:p>
            <a:pPr marL="0" indent="0">
              <a:spcBef>
                <a:spcPts val="200"/>
              </a:spcBef>
              <a:buNone/>
            </a:pPr>
            <a:r>
              <a:rPr lang="en-US" sz="1100" b="1" dirty="0">
                <a:solidFill>
                  <a:srgbClr val="282828"/>
                </a:solidFill>
                <a:latin typeface="Arial" pitchFamily="34" charset="0"/>
                <a:ea typeface="Arial" pitchFamily="34" charset="-122"/>
                <a:cs typeface="Arial" pitchFamily="34" charset="-120"/>
              </a:rPr>
              <a:t>Los Alcarrizos y La Guayiga</a:t>
            </a:r>
            <a:endParaRPr lang="en-US" sz="1100" dirty="0"/>
          </a:p>
          <a:p>
            <a:pPr marL="0" indent="0">
              <a:spcBef>
                <a:spcPts val="200"/>
              </a:spcBef>
              <a:buNone/>
            </a:pPr>
            <a:r>
              <a:rPr lang="en-US" sz="900" dirty="0">
                <a:solidFill>
                  <a:srgbClr val="655B54"/>
                </a:solidFill>
                <a:latin typeface="Arial" pitchFamily="34" charset="0"/>
                <a:ea typeface="Arial" pitchFamily="34" charset="-122"/>
                <a:cs typeface="Arial" pitchFamily="34" charset="-120"/>
              </a:rPr>
              <a:t>Comunidades del proyecto</a:t>
            </a:r>
            <a:endParaRPr lang="en-US" sz="1100" dirty="0"/>
          </a:p>
        </p:txBody>
      </p:sp>
      <p:sp>
        <p:nvSpPr>
          <p:cNvPr id="18" name="stat1"/>
          <p:cNvSpPr txBox="1"/>
          <p:nvPr/>
        </p:nvSpPr>
        <p:spPr>
          <a:xfrm>
            <a:off x="2633472" y="5291633"/>
            <a:ext cx="1904695" cy="423367"/>
          </a:xfrm>
          <a:prstGeom prst="rect">
            <a:avLst/>
          </a:prstGeom>
          <a:noFill/>
          <a:ln/>
        </p:spPr>
        <p:txBody>
          <a:bodyPr wrap="square" lIns="0" tIns="0" rIns="0" bIns="0" rtlCol="0" anchor="t"/>
          <a:lstStyle/>
          <a:p>
            <a:pPr marL="0" indent="0">
              <a:spcBef>
                <a:spcPts val="200"/>
              </a:spcBef>
              <a:buNone/>
            </a:pPr>
            <a:r>
              <a:rPr lang="en-US" sz="1100" b="1" dirty="0">
                <a:solidFill>
                  <a:srgbClr val="282828"/>
                </a:solidFill>
                <a:latin typeface="Arial" pitchFamily="34" charset="0"/>
                <a:ea typeface="Arial" pitchFamily="34" charset="-122"/>
                <a:cs typeface="Arial" pitchFamily="34" charset="-120"/>
              </a:rPr>
              <a:t>Jóvenes de 14 a 18 años</a:t>
            </a:r>
            <a:endParaRPr lang="en-US" sz="1100" dirty="0"/>
          </a:p>
          <a:p>
            <a:pPr marL="0" indent="0">
              <a:spcBef>
                <a:spcPts val="200"/>
              </a:spcBef>
              <a:buNone/>
            </a:pPr>
            <a:r>
              <a:rPr lang="en-US" sz="900" dirty="0">
                <a:solidFill>
                  <a:srgbClr val="655B54"/>
                </a:solidFill>
                <a:latin typeface="Arial" pitchFamily="34" charset="0"/>
                <a:ea typeface="Arial" pitchFamily="34" charset="-122"/>
                <a:cs typeface="Arial" pitchFamily="34" charset="-120"/>
              </a:rPr>
              <a:t>Público principal</a:t>
            </a:r>
            <a:endParaRPr lang="en-US" sz="1100" dirty="0"/>
          </a:p>
        </p:txBody>
      </p:sp>
      <p:sp>
        <p:nvSpPr>
          <p:cNvPr id="19" name="stat2"/>
          <p:cNvSpPr txBox="1"/>
          <p:nvPr/>
        </p:nvSpPr>
        <p:spPr>
          <a:xfrm>
            <a:off x="4622292" y="5291633"/>
            <a:ext cx="1904695" cy="423367"/>
          </a:xfrm>
          <a:prstGeom prst="rect">
            <a:avLst/>
          </a:prstGeom>
          <a:noFill/>
          <a:ln/>
        </p:spPr>
        <p:txBody>
          <a:bodyPr wrap="square" lIns="0" tIns="0" rIns="0" bIns="0" rtlCol="0" anchor="t"/>
          <a:lstStyle/>
          <a:p>
            <a:pPr marL="0" indent="0">
              <a:spcBef>
                <a:spcPts val="200"/>
              </a:spcBef>
              <a:buNone/>
            </a:pPr>
            <a:r>
              <a:rPr lang="en-US" sz="1100" b="1" dirty="0">
                <a:solidFill>
                  <a:srgbClr val="282828"/>
                </a:solidFill>
                <a:latin typeface="Arial" pitchFamily="34" charset="0"/>
                <a:ea typeface="Arial" pitchFamily="34" charset="-122"/>
                <a:cs typeface="Arial" pitchFamily="34" charset="-120"/>
              </a:rPr>
              <a:t>40 liceos</a:t>
            </a:r>
            <a:endParaRPr lang="en-US" sz="1100" dirty="0"/>
          </a:p>
          <a:p>
            <a:pPr marL="0" indent="0">
              <a:spcBef>
                <a:spcPts val="200"/>
              </a:spcBef>
              <a:buNone/>
            </a:pPr>
            <a:r>
              <a:rPr lang="en-US" sz="900" dirty="0">
                <a:solidFill>
                  <a:srgbClr val="655B54"/>
                </a:solidFill>
                <a:latin typeface="Arial" pitchFamily="34" charset="0"/>
                <a:ea typeface="Arial" pitchFamily="34" charset="-122"/>
                <a:cs typeface="Arial" pitchFamily="34" charset="-120"/>
              </a:rPr>
              <a:t>20 por comunidad</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p:tgtEl>
                                          <p:spTgt spid="10"/>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65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78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91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alpha val="65000"/>
            </a:srgbClr>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02 / 19</a:t>
            </a:r>
            <a:endParaRPr lang="en-US" sz="800" dirty="0"/>
          </a:p>
        </p:txBody>
      </p:sp>
      <p:sp>
        <p:nvSpPr>
          <p:cNvPr id="11" name="bg-timeline"/>
          <p:cNvSpPr/>
          <p:nvPr/>
        </p:nvSpPr>
        <p:spPr>
          <a:xfrm>
            <a:off x="0" y="6307531"/>
            <a:ext cx="1282903"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sp>
        <p:nvSpPr>
          <p:cNvPr id="13" name="eyebrow-line"/>
          <p:cNvSpPr/>
          <p:nvPr/>
        </p:nvSpPr>
        <p:spPr>
          <a:xfrm>
            <a:off x="643738" y="1067105"/>
            <a:ext cx="236830" cy="0"/>
          </a:xfrm>
          <a:prstGeom prst="line">
            <a:avLst/>
          </a:prstGeom>
          <a:noFill/>
          <a:ln w="19050">
            <a:solidFill>
              <a:srgbClr val="F68C12"/>
            </a:solidFill>
            <a:prstDash val="solid"/>
          </a:ln>
        </p:spPr>
        <p:txBody>
          <a:bodyPr/>
          <a:lstStyle/>
          <a:p>
            <a:endParaRPr lang="en-US"/>
          </a:p>
        </p:txBody>
      </p:sp>
      <p:sp>
        <p:nvSpPr>
          <p:cNvPr id="14" name="eyebrow"/>
          <p:cNvSpPr txBox="1"/>
          <p:nvPr/>
        </p:nvSpPr>
        <p:spPr>
          <a:xfrm>
            <a:off x="982066" y="965606"/>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DE DÓNDE VENIMOS</a:t>
            </a:r>
            <a:endParaRPr lang="en-US" sz="850" dirty="0"/>
          </a:p>
        </p:txBody>
      </p:sp>
      <p:sp>
        <p:nvSpPr>
          <p:cNvPr id="15" name="title"/>
          <p:cNvSpPr txBox="1"/>
          <p:nvPr/>
        </p:nvSpPr>
        <p:spPr>
          <a:xfrm>
            <a:off x="643738" y="1236269"/>
            <a:ext cx="6434633" cy="1044245"/>
          </a:xfrm>
          <a:prstGeom prst="rect">
            <a:avLst/>
          </a:prstGeom>
          <a:noFill/>
          <a:ln/>
        </p:spPr>
        <p:txBody>
          <a:bodyPr wrap="square" lIns="0" tIns="0" rIns="0" bIns="0" rtlCol="0" anchor="t"/>
          <a:lstStyle/>
          <a:p>
            <a:pPr marL="0" indent="0">
              <a:lnSpc>
                <a:spcPct val="95000"/>
              </a:lnSpc>
              <a:buNone/>
            </a:pPr>
            <a:r>
              <a:rPr lang="en-US" sz="3600" b="1" kern="0" spc="-150" dirty="0">
                <a:solidFill>
                  <a:srgbClr val="282828"/>
                </a:solidFill>
                <a:latin typeface="Arial" pitchFamily="34" charset="0"/>
                <a:ea typeface="Arial" pitchFamily="34" charset="-122"/>
                <a:cs typeface="Arial" pitchFamily="34" charset="-120"/>
              </a:rPr>
              <a:t>Una idea que ya</a:t>
            </a:r>
            <a:endParaRPr lang="en-US" sz="3600" dirty="0"/>
          </a:p>
          <a:p>
            <a:pPr marL="0" indent="0">
              <a:lnSpc>
                <a:spcPct val="95000"/>
              </a:lnSpc>
              <a:buNone/>
            </a:pPr>
            <a:r>
              <a:rPr lang="en-US" sz="3600" b="1" kern="0" spc="-150" dirty="0">
                <a:solidFill>
                  <a:srgbClr val="AD5500"/>
                </a:solidFill>
                <a:latin typeface="Arial" pitchFamily="34" charset="0"/>
                <a:ea typeface="Arial" pitchFamily="34" charset="-122"/>
                <a:cs typeface="Arial" pitchFamily="34" charset="-120"/>
              </a:rPr>
              <a:t>fue premiada</a:t>
            </a:r>
            <a:endParaRPr lang="en-US" sz="3600" dirty="0"/>
          </a:p>
        </p:txBody>
      </p:sp>
      <p:sp>
        <p:nvSpPr>
          <p:cNvPr id="16" name="lead"/>
          <p:cNvSpPr txBox="1"/>
          <p:nvPr/>
        </p:nvSpPr>
        <p:spPr>
          <a:xfrm>
            <a:off x="643738" y="2218334"/>
            <a:ext cx="6434633" cy="423367"/>
          </a:xfrm>
          <a:prstGeom prst="rect">
            <a:avLst/>
          </a:prstGeom>
          <a:noFill/>
          <a:ln/>
        </p:spPr>
        <p:txBody>
          <a:bodyPr wrap="square" lIns="0" tIns="0" rIns="0" bIns="0" rtlCol="0" anchor="t"/>
          <a:lstStyle/>
          <a:p>
            <a:pPr marL="0" indent="0">
              <a:lnSpc>
                <a:spcPct val="115000"/>
              </a:lnSpc>
              <a:buNone/>
            </a:pPr>
            <a:r>
              <a:rPr lang="en-US" sz="1250" dirty="0">
                <a:solidFill>
                  <a:srgbClr val="514B46"/>
                </a:solidFill>
                <a:latin typeface="Arial" pitchFamily="34" charset="0"/>
                <a:ea typeface="Arial" pitchFamily="34" charset="-122"/>
                <a:cs typeface="Arial" pitchFamily="34" charset="-120"/>
              </a:rPr>
              <a:t>Transporte Futura obtuvo el segundo lugar en el Hackathon CreaRD de ciudades inteligentes y movilidad urbana, ante el INTRANT y el Ministerio de la Juventud.</a:t>
            </a:r>
            <a:endParaRPr lang="en-US" sz="1250" dirty="0"/>
          </a:p>
        </p:txBody>
      </p:sp>
      <p:pic>
        <p:nvPicPr>
          <p:cNvPr id="17" name="photo-main" descr="preencoded.png"/>
          <p:cNvPicPr>
            <a:picLocks noChangeAspect="1"/>
          </p:cNvPicPr>
          <p:nvPr/>
        </p:nvPicPr>
        <p:blipFill>
          <a:blip r:embed="rId3"/>
          <a:srcRect/>
          <a:stretch/>
        </p:blipFill>
        <p:spPr>
          <a:xfrm>
            <a:off x="643738" y="2725826"/>
            <a:ext cx="2540203" cy="2997403"/>
          </a:xfrm>
          <a:prstGeom prst="rect">
            <a:avLst/>
          </a:prstGeom>
        </p:spPr>
      </p:pic>
      <p:sp>
        <p:nvSpPr>
          <p:cNvPr id="18" name="photo-cap-bg"/>
          <p:cNvSpPr/>
          <p:nvPr/>
        </p:nvSpPr>
        <p:spPr>
          <a:xfrm>
            <a:off x="643738" y="5232197"/>
            <a:ext cx="2540203" cy="491033"/>
          </a:xfrm>
          <a:prstGeom prst="rect">
            <a:avLst/>
          </a:prstGeom>
          <a:solidFill>
            <a:srgbClr val="000000">
              <a:alpha val="55000"/>
            </a:srgbClr>
          </a:solidFill>
          <a:ln w="12700">
            <a:solidFill>
              <a:srgbClr val="000000">
                <a:alpha val="0"/>
              </a:srgbClr>
            </a:solidFill>
            <a:prstDash val="solid"/>
          </a:ln>
        </p:spPr>
        <p:txBody>
          <a:bodyPr/>
          <a:lstStyle/>
          <a:p>
            <a:endParaRPr lang="en-US"/>
          </a:p>
        </p:txBody>
      </p:sp>
      <p:sp>
        <p:nvSpPr>
          <p:cNvPr id="19" name="photo-cap"/>
          <p:cNvSpPr txBox="1"/>
          <p:nvPr/>
        </p:nvSpPr>
        <p:spPr>
          <a:xfrm>
            <a:off x="745236" y="5249570"/>
            <a:ext cx="2336292" cy="45720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Segundo lugar · Hackathon CreaRD · Ciudades inteligentes y movilidad urbana</a:t>
            </a:r>
            <a:endParaRPr lang="en-US" sz="900" dirty="0"/>
          </a:p>
        </p:txBody>
      </p:sp>
      <p:pic>
        <p:nvPicPr>
          <p:cNvPr id="20" name="photo0" descr="preencoded.png"/>
          <p:cNvPicPr>
            <a:picLocks noChangeAspect="1"/>
          </p:cNvPicPr>
          <p:nvPr/>
        </p:nvPicPr>
        <p:blipFill>
          <a:blip r:embed="rId4"/>
          <a:srcRect/>
          <a:stretch/>
        </p:blipFill>
        <p:spPr>
          <a:xfrm>
            <a:off x="3268066" y="2725826"/>
            <a:ext cx="1913839" cy="1456639"/>
          </a:xfrm>
          <a:prstGeom prst="rect">
            <a:avLst/>
          </a:prstGeom>
        </p:spPr>
      </p:pic>
      <p:pic>
        <p:nvPicPr>
          <p:cNvPr id="21" name="photo1" descr="preencoded.png"/>
          <p:cNvPicPr>
            <a:picLocks noChangeAspect="1"/>
          </p:cNvPicPr>
          <p:nvPr/>
        </p:nvPicPr>
        <p:blipFill>
          <a:blip r:embed="rId5"/>
          <a:srcRect/>
          <a:stretch/>
        </p:blipFill>
        <p:spPr>
          <a:xfrm>
            <a:off x="5266030" y="2725826"/>
            <a:ext cx="1913839" cy="1456639"/>
          </a:xfrm>
          <a:prstGeom prst="rect">
            <a:avLst/>
          </a:prstGeom>
        </p:spPr>
      </p:pic>
      <p:pic>
        <p:nvPicPr>
          <p:cNvPr id="22" name="photo2" descr="preencoded.png"/>
          <p:cNvPicPr>
            <a:picLocks noChangeAspect="1"/>
          </p:cNvPicPr>
          <p:nvPr/>
        </p:nvPicPr>
        <p:blipFill>
          <a:blip r:embed="rId6"/>
          <a:srcRect/>
          <a:stretch/>
        </p:blipFill>
        <p:spPr>
          <a:xfrm>
            <a:off x="3268066" y="4267505"/>
            <a:ext cx="1913839" cy="1456639"/>
          </a:xfrm>
          <a:prstGeom prst="rect">
            <a:avLst/>
          </a:prstGeom>
        </p:spPr>
      </p:pic>
      <p:pic>
        <p:nvPicPr>
          <p:cNvPr id="23" name="photo3" descr="preencoded.png"/>
          <p:cNvPicPr>
            <a:picLocks noChangeAspect="1"/>
          </p:cNvPicPr>
          <p:nvPr/>
        </p:nvPicPr>
        <p:blipFill>
          <a:blip r:embed="rId7"/>
          <a:srcRect/>
          <a:stretch/>
        </p:blipFill>
        <p:spPr>
          <a:xfrm>
            <a:off x="5266030" y="4267505"/>
            <a:ext cx="1913839" cy="1456639"/>
          </a:xfrm>
          <a:prstGeom prst="rect">
            <a:avLst/>
          </a:prstGeom>
        </p:spPr>
      </p:pic>
      <p:pic>
        <p:nvPicPr>
          <p:cNvPr id="24" name="phone" descr="preencoded.png"/>
          <p:cNvPicPr>
            <a:picLocks noChangeAspect="1"/>
          </p:cNvPicPr>
          <p:nvPr/>
        </p:nvPicPr>
        <p:blipFill>
          <a:blip r:embed="rId8"/>
          <a:stretch>
            <a:fillRect/>
          </a:stretch>
        </p:blipFill>
        <p:spPr>
          <a:xfrm rot="-240000">
            <a:off x="9186062" y="1693469"/>
            <a:ext cx="2031797" cy="4131259"/>
          </a:xfrm>
          <a:prstGeom prst="rect">
            <a:avLst/>
          </a:prstGeom>
          <a:effectLst>
            <a:outerShdw blurRad="228600" dist="101600" dir="5400000" algn="bl" rotWithShape="0">
              <a:srgbClr val="5E3719">
                <a:alpha val="22000"/>
              </a:srgbClr>
            </a:outerShdw>
          </a:effec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nodeType="withEffect">
                                  <p:stCondLst>
                                    <p:cond delay="65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78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nodeType="withEffect">
                                  <p:stCondLst>
                                    <p:cond delay="91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nodeType="withEffect">
                                  <p:stCondLst>
                                    <p:cond delay="104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117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8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04 / 19</a:t>
            </a:r>
            <a:endParaRPr lang="en-US" sz="800" dirty="0"/>
          </a:p>
        </p:txBody>
      </p:sp>
      <p:sp>
        <p:nvSpPr>
          <p:cNvPr id="11" name="bg-timeline"/>
          <p:cNvSpPr/>
          <p:nvPr/>
        </p:nvSpPr>
        <p:spPr>
          <a:xfrm>
            <a:off x="0" y="6307531"/>
            <a:ext cx="2566721"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083564"/>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982066"/>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LA PLATAFORMA COMPLETA</a:t>
            </a:r>
            <a:endParaRPr lang="en-US" sz="850" dirty="0"/>
          </a:p>
        </p:txBody>
      </p:sp>
      <p:sp>
        <p:nvSpPr>
          <p:cNvPr id="16" name="title"/>
          <p:cNvSpPr txBox="1"/>
          <p:nvPr/>
        </p:nvSpPr>
        <p:spPr>
          <a:xfrm>
            <a:off x="643738" y="1252728"/>
            <a:ext cx="6772961" cy="910742"/>
          </a:xfrm>
          <a:prstGeom prst="rect">
            <a:avLst/>
          </a:prstGeom>
          <a:noFill/>
          <a:ln/>
        </p:spPr>
        <p:txBody>
          <a:bodyPr wrap="square" lIns="0" tIns="0" rIns="0" bIns="0" rtlCol="0" anchor="t"/>
          <a:lstStyle/>
          <a:p>
            <a:pPr marL="0" indent="0">
              <a:lnSpc>
                <a:spcPct val="95000"/>
              </a:lnSpc>
              <a:buNone/>
            </a:pPr>
            <a:r>
              <a:rPr lang="en-US" sz="3100" b="1" kern="0" spc="-150" dirty="0">
                <a:solidFill>
                  <a:srgbClr val="282828"/>
                </a:solidFill>
                <a:latin typeface="Arial" pitchFamily="34" charset="0"/>
                <a:ea typeface="Arial" pitchFamily="34" charset="-122"/>
                <a:cs typeface="Arial" pitchFamily="34" charset="-120"/>
              </a:rPr>
              <a:t>Ocho módulos,</a:t>
            </a:r>
            <a:endParaRPr lang="en-US" sz="3100" dirty="0"/>
          </a:p>
          <a:p>
            <a:pPr marL="0" indent="0">
              <a:lnSpc>
                <a:spcPct val="95000"/>
              </a:lnSpc>
              <a:buNone/>
            </a:pPr>
            <a:r>
              <a:rPr lang="en-US" sz="3100" b="1" kern="0" spc="-150" dirty="0">
                <a:solidFill>
                  <a:srgbClr val="282828"/>
                </a:solidFill>
                <a:latin typeface="Arial" pitchFamily="34" charset="0"/>
                <a:ea typeface="Arial" pitchFamily="34" charset="-122"/>
                <a:cs typeface="Arial" pitchFamily="34" charset="-120"/>
              </a:rPr>
              <a:t>ordenados por </a:t>
            </a:r>
            <a:r>
              <a:rPr lang="en-US" sz="3100" b="1" kern="0" spc="-150" dirty="0">
                <a:solidFill>
                  <a:srgbClr val="AD5500"/>
                </a:solidFill>
                <a:latin typeface="Arial" pitchFamily="34" charset="0"/>
                <a:ea typeface="Arial" pitchFamily="34" charset="-122"/>
                <a:cs typeface="Arial" pitchFamily="34" charset="-120"/>
              </a:rPr>
              <a:t>el peso que cargan</a:t>
            </a:r>
            <a:endParaRPr lang="en-US" sz="3100" dirty="0"/>
          </a:p>
        </p:txBody>
      </p:sp>
      <p:sp>
        <p:nvSpPr>
          <p:cNvPr id="18" name="lead"/>
          <p:cNvSpPr txBox="1"/>
          <p:nvPr/>
        </p:nvSpPr>
        <p:spPr>
          <a:xfrm>
            <a:off x="643738" y="2116836"/>
            <a:ext cx="5926226" cy="405994"/>
          </a:xfrm>
          <a:prstGeom prst="rect">
            <a:avLst/>
          </a:prstGeom>
          <a:noFill/>
          <a:ln/>
        </p:spPr>
        <p:txBody>
          <a:bodyPr wrap="square" lIns="0" tIns="0" rIns="0" bIns="0" rtlCol="0" anchor="t"/>
          <a:lstStyle/>
          <a:p>
            <a:pPr marL="0" indent="0">
              <a:lnSpc>
                <a:spcPct val="115000"/>
              </a:lnSpc>
              <a:buNone/>
            </a:pPr>
            <a:r>
              <a:rPr lang="en-US" sz="1250" dirty="0">
                <a:solidFill>
                  <a:srgbClr val="514B46"/>
                </a:solidFill>
                <a:latin typeface="Arial" pitchFamily="34" charset="0"/>
                <a:ea typeface="Arial" pitchFamily="34" charset="-122"/>
                <a:cs typeface="Arial" pitchFamily="34" charset="-120"/>
              </a:rPr>
              <a:t>Los dos primeros producen la información, el tercero la muestra, y el cuarto y el quinto sostienen legal y éticamente todo lo demás.</a:t>
            </a:r>
            <a:endParaRPr lang="en-US" sz="1250" dirty="0"/>
          </a:p>
        </p:txBody>
      </p:sp>
      <p:sp>
        <p:nvSpPr>
          <p:cNvPr id="19" name="r0-line"/>
          <p:cNvSpPr/>
          <p:nvPr/>
        </p:nvSpPr>
        <p:spPr>
          <a:xfrm>
            <a:off x="643738" y="2641702"/>
            <a:ext cx="3047695" cy="0"/>
          </a:xfrm>
          <a:prstGeom prst="line">
            <a:avLst/>
          </a:prstGeom>
          <a:noFill/>
          <a:ln w="9525">
            <a:solidFill>
              <a:srgbClr val="D9D5CF"/>
            </a:solidFill>
            <a:prstDash val="solid"/>
          </a:ln>
        </p:spPr>
        <p:txBody>
          <a:bodyPr/>
          <a:lstStyle/>
          <a:p>
            <a:endParaRPr lang="en-US"/>
          </a:p>
        </p:txBody>
      </p:sp>
      <p:sp>
        <p:nvSpPr>
          <p:cNvPr id="20" name="r0-box"/>
          <p:cNvSpPr/>
          <p:nvPr/>
        </p:nvSpPr>
        <p:spPr>
          <a:xfrm>
            <a:off x="643738" y="2743200"/>
            <a:ext cx="288036" cy="288036"/>
          </a:xfrm>
          <a:prstGeom prst="roundRect">
            <a:avLst>
              <a:gd name="adj" fmla="val 28571"/>
            </a:avLst>
          </a:prstGeom>
          <a:solidFill>
            <a:srgbClr val="F68C12"/>
          </a:solidFill>
          <a:ln w="9525">
            <a:solidFill>
              <a:srgbClr val="F68C12"/>
            </a:solidFill>
            <a:prstDash val="solid"/>
          </a:ln>
        </p:spPr>
        <p:txBody>
          <a:bodyPr/>
          <a:lstStyle/>
          <a:p>
            <a:endParaRPr lang="en-US"/>
          </a:p>
        </p:txBody>
      </p:sp>
      <p:sp>
        <p:nvSpPr>
          <p:cNvPr id="21" name="r0-n"/>
          <p:cNvSpPr txBox="1"/>
          <p:nvPr/>
        </p:nvSpPr>
        <p:spPr>
          <a:xfrm>
            <a:off x="643738" y="2743200"/>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01</a:t>
            </a:r>
            <a:endParaRPr lang="en-US" sz="900" dirty="0"/>
          </a:p>
        </p:txBody>
      </p:sp>
      <p:sp>
        <p:nvSpPr>
          <p:cNvPr id="22" name="r0"/>
          <p:cNvSpPr txBox="1"/>
          <p:nvPr/>
        </p:nvSpPr>
        <p:spPr>
          <a:xfrm>
            <a:off x="1033272" y="2725826"/>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Bitácora de Movilidad</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Produce el dato. Es el corazón</a:t>
            </a:r>
            <a:endParaRPr lang="en-US" sz="1100" dirty="0"/>
          </a:p>
        </p:txBody>
      </p:sp>
      <p:sp>
        <p:nvSpPr>
          <p:cNvPr id="23" name="r1-line"/>
          <p:cNvSpPr/>
          <p:nvPr/>
        </p:nvSpPr>
        <p:spPr>
          <a:xfrm>
            <a:off x="3860597" y="2641702"/>
            <a:ext cx="3047695" cy="0"/>
          </a:xfrm>
          <a:prstGeom prst="line">
            <a:avLst/>
          </a:prstGeom>
          <a:noFill/>
          <a:ln w="9525">
            <a:solidFill>
              <a:srgbClr val="D9D5CF"/>
            </a:solidFill>
            <a:prstDash val="solid"/>
          </a:ln>
        </p:spPr>
        <p:txBody>
          <a:bodyPr/>
          <a:lstStyle/>
          <a:p>
            <a:endParaRPr lang="en-US"/>
          </a:p>
        </p:txBody>
      </p:sp>
      <p:sp>
        <p:nvSpPr>
          <p:cNvPr id="24" name="r1-box"/>
          <p:cNvSpPr/>
          <p:nvPr/>
        </p:nvSpPr>
        <p:spPr>
          <a:xfrm>
            <a:off x="3860597" y="2743200"/>
            <a:ext cx="288036" cy="288036"/>
          </a:xfrm>
          <a:prstGeom prst="roundRect">
            <a:avLst>
              <a:gd name="adj" fmla="val 28571"/>
            </a:avLst>
          </a:prstGeom>
          <a:solidFill>
            <a:srgbClr val="F68C12"/>
          </a:solidFill>
          <a:ln w="9525">
            <a:solidFill>
              <a:srgbClr val="F68C12"/>
            </a:solidFill>
            <a:prstDash val="solid"/>
          </a:ln>
        </p:spPr>
        <p:txBody>
          <a:bodyPr/>
          <a:lstStyle/>
          <a:p>
            <a:endParaRPr lang="en-US"/>
          </a:p>
        </p:txBody>
      </p:sp>
      <p:sp>
        <p:nvSpPr>
          <p:cNvPr id="25" name="r1-n"/>
          <p:cNvSpPr txBox="1"/>
          <p:nvPr/>
        </p:nvSpPr>
        <p:spPr>
          <a:xfrm>
            <a:off x="3860597" y="2743200"/>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02</a:t>
            </a:r>
            <a:endParaRPr lang="en-US" sz="900" dirty="0"/>
          </a:p>
        </p:txBody>
      </p:sp>
      <p:sp>
        <p:nvSpPr>
          <p:cNvPr id="26" name="r1"/>
          <p:cNvSpPr txBox="1"/>
          <p:nvPr/>
        </p:nvSpPr>
        <p:spPr>
          <a:xfrm>
            <a:off x="4250131" y="2725826"/>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Monitoreo Ciudadano</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La comunidad reporta y da seguimiento</a:t>
            </a:r>
            <a:endParaRPr lang="en-US" sz="1100" dirty="0"/>
          </a:p>
        </p:txBody>
      </p:sp>
      <p:sp>
        <p:nvSpPr>
          <p:cNvPr id="27" name="r2-line"/>
          <p:cNvSpPr/>
          <p:nvPr/>
        </p:nvSpPr>
        <p:spPr>
          <a:xfrm>
            <a:off x="643738" y="3200400"/>
            <a:ext cx="3047695" cy="0"/>
          </a:xfrm>
          <a:prstGeom prst="line">
            <a:avLst/>
          </a:prstGeom>
          <a:noFill/>
          <a:ln w="9525">
            <a:solidFill>
              <a:srgbClr val="D9D5CF"/>
            </a:solidFill>
            <a:prstDash val="solid"/>
          </a:ln>
        </p:spPr>
        <p:txBody>
          <a:bodyPr/>
          <a:lstStyle/>
          <a:p>
            <a:endParaRPr lang="en-US"/>
          </a:p>
        </p:txBody>
      </p:sp>
      <p:sp>
        <p:nvSpPr>
          <p:cNvPr id="28" name="r2-box"/>
          <p:cNvSpPr/>
          <p:nvPr/>
        </p:nvSpPr>
        <p:spPr>
          <a:xfrm>
            <a:off x="643738" y="3301898"/>
            <a:ext cx="288036" cy="288036"/>
          </a:xfrm>
          <a:prstGeom prst="roundRect">
            <a:avLst>
              <a:gd name="adj" fmla="val 28571"/>
            </a:avLst>
          </a:prstGeom>
          <a:solidFill>
            <a:srgbClr val="F68C12"/>
          </a:solidFill>
          <a:ln w="9525">
            <a:solidFill>
              <a:srgbClr val="F68C12"/>
            </a:solidFill>
            <a:prstDash val="solid"/>
          </a:ln>
        </p:spPr>
        <p:txBody>
          <a:bodyPr/>
          <a:lstStyle/>
          <a:p>
            <a:endParaRPr lang="en-US"/>
          </a:p>
        </p:txBody>
      </p:sp>
      <p:sp>
        <p:nvSpPr>
          <p:cNvPr id="29" name="r2-n"/>
          <p:cNvSpPr txBox="1"/>
          <p:nvPr/>
        </p:nvSpPr>
        <p:spPr>
          <a:xfrm>
            <a:off x="643738" y="3301898"/>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03</a:t>
            </a:r>
            <a:endParaRPr lang="en-US" sz="900" dirty="0"/>
          </a:p>
        </p:txBody>
      </p:sp>
      <p:sp>
        <p:nvSpPr>
          <p:cNvPr id="30" name="r2"/>
          <p:cNvSpPr txBox="1"/>
          <p:nvPr/>
        </p:nvSpPr>
        <p:spPr>
          <a:xfrm>
            <a:off x="1033272" y="3285439"/>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Mapa de Movilidad Segura</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Toda la información en un solo lugar</a:t>
            </a:r>
            <a:endParaRPr lang="en-US" sz="1100" dirty="0"/>
          </a:p>
        </p:txBody>
      </p:sp>
      <p:sp>
        <p:nvSpPr>
          <p:cNvPr id="31" name="r3-line"/>
          <p:cNvSpPr/>
          <p:nvPr/>
        </p:nvSpPr>
        <p:spPr>
          <a:xfrm>
            <a:off x="3860597" y="3200400"/>
            <a:ext cx="3047695" cy="0"/>
          </a:xfrm>
          <a:prstGeom prst="line">
            <a:avLst/>
          </a:prstGeom>
          <a:noFill/>
          <a:ln w="9525">
            <a:solidFill>
              <a:srgbClr val="D9D5CF"/>
            </a:solidFill>
            <a:prstDash val="solid"/>
          </a:ln>
        </p:spPr>
        <p:txBody>
          <a:bodyPr/>
          <a:lstStyle/>
          <a:p>
            <a:endParaRPr lang="en-US"/>
          </a:p>
        </p:txBody>
      </p:sp>
      <p:sp>
        <p:nvSpPr>
          <p:cNvPr id="32" name="r3-box"/>
          <p:cNvSpPr/>
          <p:nvPr/>
        </p:nvSpPr>
        <p:spPr>
          <a:xfrm>
            <a:off x="3860597" y="3301898"/>
            <a:ext cx="288036" cy="288036"/>
          </a:xfrm>
          <a:prstGeom prst="roundRect">
            <a:avLst>
              <a:gd name="adj" fmla="val 28571"/>
            </a:avLst>
          </a:prstGeom>
          <a:solidFill>
            <a:srgbClr val="FFFFFF"/>
          </a:solidFill>
          <a:ln w="9525">
            <a:solidFill>
              <a:srgbClr val="D9D5CF"/>
            </a:solidFill>
            <a:prstDash val="solid"/>
          </a:ln>
        </p:spPr>
        <p:txBody>
          <a:bodyPr/>
          <a:lstStyle/>
          <a:p>
            <a:endParaRPr lang="en-US"/>
          </a:p>
        </p:txBody>
      </p:sp>
      <p:sp>
        <p:nvSpPr>
          <p:cNvPr id="33" name="r3-n"/>
          <p:cNvSpPr txBox="1"/>
          <p:nvPr/>
        </p:nvSpPr>
        <p:spPr>
          <a:xfrm>
            <a:off x="3860597" y="3301898"/>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04</a:t>
            </a:r>
            <a:endParaRPr lang="en-US" sz="900" dirty="0"/>
          </a:p>
        </p:txBody>
      </p:sp>
      <p:sp>
        <p:nvSpPr>
          <p:cNvPr id="34" name="r3"/>
          <p:cNvSpPr txBox="1"/>
          <p:nvPr/>
        </p:nvSpPr>
        <p:spPr>
          <a:xfrm>
            <a:off x="4250131" y="3285439"/>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Bienvenida y Consentimiento</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Permiso legal para capturar</a:t>
            </a:r>
            <a:endParaRPr lang="en-US" sz="1100" dirty="0"/>
          </a:p>
        </p:txBody>
      </p:sp>
      <p:sp>
        <p:nvSpPr>
          <p:cNvPr id="35" name="r4-line"/>
          <p:cNvSpPr/>
          <p:nvPr/>
        </p:nvSpPr>
        <p:spPr>
          <a:xfrm>
            <a:off x="643738" y="3759098"/>
            <a:ext cx="3047695" cy="0"/>
          </a:xfrm>
          <a:prstGeom prst="line">
            <a:avLst/>
          </a:prstGeom>
          <a:noFill/>
          <a:ln w="9525">
            <a:solidFill>
              <a:srgbClr val="D9D5CF"/>
            </a:solidFill>
            <a:prstDash val="solid"/>
          </a:ln>
        </p:spPr>
        <p:txBody>
          <a:bodyPr/>
          <a:lstStyle/>
          <a:p>
            <a:endParaRPr lang="en-US"/>
          </a:p>
        </p:txBody>
      </p:sp>
      <p:sp>
        <p:nvSpPr>
          <p:cNvPr id="36" name="r4-box"/>
          <p:cNvSpPr/>
          <p:nvPr/>
        </p:nvSpPr>
        <p:spPr>
          <a:xfrm>
            <a:off x="643738" y="3860597"/>
            <a:ext cx="288036" cy="288036"/>
          </a:xfrm>
          <a:prstGeom prst="roundRect">
            <a:avLst>
              <a:gd name="adj" fmla="val 28571"/>
            </a:avLst>
          </a:prstGeom>
          <a:solidFill>
            <a:srgbClr val="FFFFFF"/>
          </a:solidFill>
          <a:ln w="9525">
            <a:solidFill>
              <a:srgbClr val="D9D5CF"/>
            </a:solidFill>
            <a:prstDash val="solid"/>
          </a:ln>
        </p:spPr>
        <p:txBody>
          <a:bodyPr/>
          <a:lstStyle/>
          <a:p>
            <a:endParaRPr lang="en-US"/>
          </a:p>
        </p:txBody>
      </p:sp>
      <p:sp>
        <p:nvSpPr>
          <p:cNvPr id="37" name="r4-n"/>
          <p:cNvSpPr txBox="1"/>
          <p:nvPr/>
        </p:nvSpPr>
        <p:spPr>
          <a:xfrm>
            <a:off x="643738" y="3860597"/>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05</a:t>
            </a:r>
            <a:endParaRPr lang="en-US" sz="900" dirty="0"/>
          </a:p>
        </p:txBody>
      </p:sp>
      <p:sp>
        <p:nvSpPr>
          <p:cNvPr id="38" name="r4"/>
          <p:cNvSpPr txBox="1"/>
          <p:nvPr/>
        </p:nvSpPr>
        <p:spPr>
          <a:xfrm>
            <a:off x="1033272" y="3844138"/>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Perfil, Accesibilidad e Inclusión</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Derechos visibles y usables</a:t>
            </a:r>
            <a:endParaRPr lang="en-US" sz="1100" dirty="0"/>
          </a:p>
        </p:txBody>
      </p:sp>
      <p:sp>
        <p:nvSpPr>
          <p:cNvPr id="39" name="r5-line"/>
          <p:cNvSpPr/>
          <p:nvPr/>
        </p:nvSpPr>
        <p:spPr>
          <a:xfrm>
            <a:off x="3860597" y="3759098"/>
            <a:ext cx="3047695" cy="0"/>
          </a:xfrm>
          <a:prstGeom prst="line">
            <a:avLst/>
          </a:prstGeom>
          <a:noFill/>
          <a:ln w="9525">
            <a:solidFill>
              <a:srgbClr val="D9D5CF"/>
            </a:solidFill>
            <a:prstDash val="solid"/>
          </a:ln>
        </p:spPr>
        <p:txBody>
          <a:bodyPr/>
          <a:lstStyle/>
          <a:p>
            <a:endParaRPr lang="en-US"/>
          </a:p>
        </p:txBody>
      </p:sp>
      <p:sp>
        <p:nvSpPr>
          <p:cNvPr id="40" name="r5-box"/>
          <p:cNvSpPr/>
          <p:nvPr/>
        </p:nvSpPr>
        <p:spPr>
          <a:xfrm>
            <a:off x="3860597" y="3860597"/>
            <a:ext cx="288036" cy="288036"/>
          </a:xfrm>
          <a:prstGeom prst="roundRect">
            <a:avLst>
              <a:gd name="adj" fmla="val 28571"/>
            </a:avLst>
          </a:prstGeom>
          <a:solidFill>
            <a:srgbClr val="FFFFFF"/>
          </a:solidFill>
          <a:ln w="9525">
            <a:solidFill>
              <a:srgbClr val="D9D5CF"/>
            </a:solidFill>
            <a:prstDash val="solid"/>
          </a:ln>
        </p:spPr>
        <p:txBody>
          <a:bodyPr/>
          <a:lstStyle/>
          <a:p>
            <a:endParaRPr lang="en-US"/>
          </a:p>
        </p:txBody>
      </p:sp>
      <p:sp>
        <p:nvSpPr>
          <p:cNvPr id="41" name="r5-n"/>
          <p:cNvSpPr txBox="1"/>
          <p:nvPr/>
        </p:nvSpPr>
        <p:spPr>
          <a:xfrm>
            <a:off x="3860597" y="3860597"/>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06</a:t>
            </a:r>
            <a:endParaRPr lang="en-US" sz="900" dirty="0"/>
          </a:p>
        </p:txBody>
      </p:sp>
      <p:sp>
        <p:nvSpPr>
          <p:cNvPr id="42" name="r5"/>
          <p:cNvSpPr txBox="1"/>
          <p:nvPr/>
        </p:nvSpPr>
        <p:spPr>
          <a:xfrm>
            <a:off x="4250131" y="3844138"/>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Rutas Seguras a la Escuela</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El uso diario</a:t>
            </a:r>
            <a:endParaRPr lang="en-US" sz="1100" dirty="0"/>
          </a:p>
        </p:txBody>
      </p:sp>
      <p:sp>
        <p:nvSpPr>
          <p:cNvPr id="43" name="r6-line"/>
          <p:cNvSpPr/>
          <p:nvPr/>
        </p:nvSpPr>
        <p:spPr>
          <a:xfrm>
            <a:off x="643738" y="4317797"/>
            <a:ext cx="3047695" cy="0"/>
          </a:xfrm>
          <a:prstGeom prst="line">
            <a:avLst/>
          </a:prstGeom>
          <a:noFill/>
          <a:ln w="9525">
            <a:solidFill>
              <a:srgbClr val="D9D5CF"/>
            </a:solidFill>
            <a:prstDash val="solid"/>
          </a:ln>
        </p:spPr>
        <p:txBody>
          <a:bodyPr/>
          <a:lstStyle/>
          <a:p>
            <a:endParaRPr lang="en-US"/>
          </a:p>
        </p:txBody>
      </p:sp>
      <p:sp>
        <p:nvSpPr>
          <p:cNvPr id="44" name="r6-box"/>
          <p:cNvSpPr/>
          <p:nvPr/>
        </p:nvSpPr>
        <p:spPr>
          <a:xfrm>
            <a:off x="643738" y="4419295"/>
            <a:ext cx="288036" cy="288036"/>
          </a:xfrm>
          <a:prstGeom prst="roundRect">
            <a:avLst>
              <a:gd name="adj" fmla="val 28571"/>
            </a:avLst>
          </a:prstGeom>
          <a:solidFill>
            <a:srgbClr val="FFFFFF"/>
          </a:solidFill>
          <a:ln w="9525">
            <a:solidFill>
              <a:srgbClr val="D9D5CF"/>
            </a:solidFill>
            <a:prstDash val="solid"/>
          </a:ln>
        </p:spPr>
        <p:txBody>
          <a:bodyPr/>
          <a:lstStyle/>
          <a:p>
            <a:endParaRPr lang="en-US"/>
          </a:p>
        </p:txBody>
      </p:sp>
      <p:sp>
        <p:nvSpPr>
          <p:cNvPr id="45" name="r6-n"/>
          <p:cNvSpPr txBox="1"/>
          <p:nvPr/>
        </p:nvSpPr>
        <p:spPr>
          <a:xfrm>
            <a:off x="643738" y="4419295"/>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07</a:t>
            </a:r>
            <a:endParaRPr lang="en-US" sz="900" dirty="0"/>
          </a:p>
        </p:txBody>
      </p:sp>
      <p:sp>
        <p:nvSpPr>
          <p:cNvPr id="46" name="r6"/>
          <p:cNvSpPr txBox="1"/>
          <p:nvPr/>
        </p:nvSpPr>
        <p:spPr>
          <a:xfrm>
            <a:off x="1033272" y="4402836"/>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Alertas y Recomendaciones</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Lo validado vuelve a la calle</a:t>
            </a:r>
            <a:endParaRPr lang="en-US" sz="1100" dirty="0"/>
          </a:p>
        </p:txBody>
      </p:sp>
      <p:sp>
        <p:nvSpPr>
          <p:cNvPr id="47" name="r7-line"/>
          <p:cNvSpPr/>
          <p:nvPr/>
        </p:nvSpPr>
        <p:spPr>
          <a:xfrm>
            <a:off x="3860597" y="4317797"/>
            <a:ext cx="3047695" cy="0"/>
          </a:xfrm>
          <a:prstGeom prst="line">
            <a:avLst/>
          </a:prstGeom>
          <a:noFill/>
          <a:ln w="9525">
            <a:solidFill>
              <a:srgbClr val="D9D5CF"/>
            </a:solidFill>
            <a:prstDash val="solid"/>
          </a:ln>
        </p:spPr>
        <p:txBody>
          <a:bodyPr/>
          <a:lstStyle/>
          <a:p>
            <a:endParaRPr lang="en-US"/>
          </a:p>
        </p:txBody>
      </p:sp>
      <p:sp>
        <p:nvSpPr>
          <p:cNvPr id="48" name="r7-box"/>
          <p:cNvSpPr/>
          <p:nvPr/>
        </p:nvSpPr>
        <p:spPr>
          <a:xfrm>
            <a:off x="3860597" y="4419295"/>
            <a:ext cx="288036" cy="288036"/>
          </a:xfrm>
          <a:prstGeom prst="roundRect">
            <a:avLst>
              <a:gd name="adj" fmla="val 28571"/>
            </a:avLst>
          </a:prstGeom>
          <a:solidFill>
            <a:srgbClr val="FFFFFF"/>
          </a:solidFill>
          <a:ln w="9525">
            <a:solidFill>
              <a:srgbClr val="D9D5CF"/>
            </a:solidFill>
            <a:prstDash val="solid"/>
          </a:ln>
        </p:spPr>
        <p:txBody>
          <a:bodyPr/>
          <a:lstStyle/>
          <a:p>
            <a:endParaRPr lang="en-US"/>
          </a:p>
        </p:txBody>
      </p:sp>
      <p:sp>
        <p:nvSpPr>
          <p:cNvPr id="49" name="r7-n"/>
          <p:cNvSpPr txBox="1"/>
          <p:nvPr/>
        </p:nvSpPr>
        <p:spPr>
          <a:xfrm>
            <a:off x="3860597" y="4419295"/>
            <a:ext cx="288036" cy="288036"/>
          </a:xfrm>
          <a:prstGeom prst="rect">
            <a:avLst/>
          </a:prstGeom>
          <a:noFill/>
          <a:ln/>
        </p:spPr>
        <p:txBody>
          <a:bodyPr wrap="square" lIns="0" tIns="0" rIns="0" bIns="0" rtlCol="0" anchor="ctr"/>
          <a:lstStyle/>
          <a:p>
            <a:pPr marL="0" indent="0" algn="ctr">
              <a:buNone/>
            </a:pPr>
            <a:r>
              <a:rPr lang="en-US" sz="900" b="1" dirty="0">
                <a:solidFill>
                  <a:srgbClr val="282828"/>
                </a:solidFill>
                <a:latin typeface="Arial" pitchFamily="34" charset="0"/>
                <a:ea typeface="Arial" pitchFamily="34" charset="-122"/>
                <a:cs typeface="Arial" pitchFamily="34" charset="-120"/>
              </a:rPr>
              <a:t>08</a:t>
            </a:r>
            <a:endParaRPr lang="en-US" sz="900" dirty="0"/>
          </a:p>
        </p:txBody>
      </p:sp>
      <p:sp>
        <p:nvSpPr>
          <p:cNvPr id="50" name="r7"/>
          <p:cNvSpPr txBox="1"/>
          <p:nvPr/>
        </p:nvSpPr>
        <p:spPr>
          <a:xfrm>
            <a:off x="4250131" y="4402836"/>
            <a:ext cx="2624328" cy="405994"/>
          </a:xfrm>
          <a:prstGeom prst="rect">
            <a:avLst/>
          </a:prstGeom>
          <a:noFill/>
          <a:ln/>
        </p:spPr>
        <p:txBody>
          <a:bodyPr wrap="square" lIns="0" tIns="0" rIns="0" bIns="0" rtlCol="0" anchor="t"/>
          <a:lstStyle/>
          <a:p>
            <a:pPr marL="0" indent="0">
              <a:buNone/>
            </a:pPr>
            <a:r>
              <a:rPr lang="en-US" sz="1100" b="1" dirty="0">
                <a:solidFill>
                  <a:srgbClr val="282828"/>
                </a:solidFill>
                <a:latin typeface="Arial" pitchFamily="34" charset="0"/>
                <a:ea typeface="Arial" pitchFamily="34" charset="-122"/>
                <a:cs typeface="Arial" pitchFamily="34" charset="-120"/>
              </a:rPr>
              <a:t>Educación Vial Gamificada</a:t>
            </a:r>
            <a:endParaRPr lang="en-US" sz="1100" dirty="0"/>
          </a:p>
          <a:p>
            <a:pPr marL="0" indent="0">
              <a:buNone/>
            </a:pPr>
            <a:r>
              <a:rPr lang="en-US" sz="850" dirty="0">
                <a:solidFill>
                  <a:srgbClr val="655B54"/>
                </a:solidFill>
                <a:latin typeface="Arial" pitchFamily="34" charset="0"/>
                <a:ea typeface="Arial" pitchFamily="34" charset="-122"/>
                <a:cs typeface="Arial" pitchFamily="34" charset="-120"/>
              </a:rPr>
              <a:t>Se co-crea con Entrena</a:t>
            </a:r>
            <a:endParaRPr lang="en-US" sz="1100" dirty="0"/>
          </a:p>
        </p:txBody>
      </p:sp>
      <p:sp>
        <p:nvSpPr>
          <p:cNvPr id="51" name="cy0-box"/>
          <p:cNvSpPr/>
          <p:nvPr/>
        </p:nvSpPr>
        <p:spPr>
          <a:xfrm>
            <a:off x="643738" y="5045659"/>
            <a:ext cx="914400" cy="389534"/>
          </a:xfrm>
          <a:prstGeom prst="roundRect">
            <a:avLst>
              <a:gd name="adj" fmla="val 28169"/>
            </a:avLst>
          </a:prstGeom>
          <a:solidFill>
            <a:srgbClr val="FFF0DB"/>
          </a:solidFill>
          <a:ln w="9525">
            <a:solidFill>
              <a:srgbClr val="F9D7A7"/>
            </a:solidFill>
            <a:prstDash val="solid"/>
          </a:ln>
        </p:spPr>
        <p:txBody>
          <a:bodyPr/>
          <a:lstStyle/>
          <a:p>
            <a:endParaRPr lang="en-US"/>
          </a:p>
        </p:txBody>
      </p:sp>
      <p:sp>
        <p:nvSpPr>
          <p:cNvPr id="52" name="cy0"/>
          <p:cNvSpPr txBox="1"/>
          <p:nvPr/>
        </p:nvSpPr>
        <p:spPr>
          <a:xfrm>
            <a:off x="643738" y="5045659"/>
            <a:ext cx="914400" cy="389534"/>
          </a:xfrm>
          <a:prstGeom prst="rect">
            <a:avLst/>
          </a:prstGeom>
          <a:noFill/>
          <a:ln/>
        </p:spPr>
        <p:txBody>
          <a:bodyPr wrap="square" lIns="0" tIns="0" rIns="0" bIns="0" rtlCol="0" anchor="ctr"/>
          <a:lstStyle/>
          <a:p>
            <a:pPr marL="0" indent="0" algn="ctr">
              <a:buNone/>
            </a:pPr>
            <a:r>
              <a:rPr lang="en-US" sz="700" kern="0" spc="150" dirty="0">
                <a:solidFill>
                  <a:srgbClr val="655B54"/>
                </a:solidFill>
                <a:latin typeface="Arial" pitchFamily="34" charset="0"/>
                <a:ea typeface="Arial" pitchFamily="34" charset="-122"/>
                <a:cs typeface="Arial" pitchFamily="34" charset="-120"/>
              </a:rPr>
              <a:t>CAPTURAR</a:t>
            </a:r>
            <a:endParaRPr lang="en-US" sz="700" dirty="0"/>
          </a:p>
          <a:p>
            <a:pPr marL="0" indent="0" algn="ctr">
              <a:buNone/>
            </a:pPr>
            <a:r>
              <a:rPr lang="en-US" sz="1100" b="1" dirty="0">
                <a:solidFill>
                  <a:srgbClr val="282828"/>
                </a:solidFill>
                <a:latin typeface="Arial" pitchFamily="34" charset="0"/>
                <a:ea typeface="Arial" pitchFamily="34" charset="-122"/>
                <a:cs typeface="Arial" pitchFamily="34" charset="-120"/>
              </a:rPr>
              <a:t>01 · 02</a:t>
            </a:r>
            <a:endParaRPr lang="en-US" sz="700" dirty="0"/>
          </a:p>
        </p:txBody>
      </p:sp>
      <p:sp>
        <p:nvSpPr>
          <p:cNvPr id="53" name="cy1"/>
          <p:cNvSpPr txBox="1"/>
          <p:nvPr/>
        </p:nvSpPr>
        <p:spPr>
          <a:xfrm>
            <a:off x="1608430" y="5045659"/>
            <a:ext cx="220370" cy="389534"/>
          </a:xfrm>
          <a:prstGeom prst="rect">
            <a:avLst/>
          </a:prstGeom>
          <a:noFill/>
          <a:ln/>
        </p:spPr>
        <p:txBody>
          <a:bodyPr wrap="square" lIns="0" tIns="0" rIns="0" bIns="0" rtlCol="0" anchor="ctr"/>
          <a:lstStyle/>
          <a:p>
            <a:pPr marL="0" indent="0" algn="ctr">
              <a:buNone/>
            </a:pPr>
            <a:r>
              <a:rPr lang="en-US" sz="1200" dirty="0">
                <a:solidFill>
                  <a:srgbClr val="655B54"/>
                </a:solidFill>
                <a:latin typeface="Arial" pitchFamily="34" charset="0"/>
                <a:ea typeface="Arial" pitchFamily="34" charset="-122"/>
                <a:cs typeface="Arial" pitchFamily="34" charset="-120"/>
              </a:rPr>
              <a:t>→</a:t>
            </a:r>
            <a:endParaRPr lang="en-US" sz="1200" dirty="0"/>
          </a:p>
        </p:txBody>
      </p:sp>
      <p:sp>
        <p:nvSpPr>
          <p:cNvPr id="54" name="cy2-box"/>
          <p:cNvSpPr/>
          <p:nvPr/>
        </p:nvSpPr>
        <p:spPr>
          <a:xfrm>
            <a:off x="1862633" y="5045659"/>
            <a:ext cx="914400" cy="389534"/>
          </a:xfrm>
          <a:prstGeom prst="roundRect">
            <a:avLst>
              <a:gd name="adj" fmla="val 28169"/>
            </a:avLst>
          </a:prstGeom>
          <a:solidFill>
            <a:srgbClr val="E8F0FF"/>
          </a:solidFill>
          <a:ln w="9525">
            <a:solidFill>
              <a:srgbClr val="C9D9FF"/>
            </a:solidFill>
            <a:prstDash val="solid"/>
          </a:ln>
        </p:spPr>
        <p:txBody>
          <a:bodyPr/>
          <a:lstStyle/>
          <a:p>
            <a:endParaRPr lang="en-US"/>
          </a:p>
        </p:txBody>
      </p:sp>
      <p:sp>
        <p:nvSpPr>
          <p:cNvPr id="55" name="cy2"/>
          <p:cNvSpPr txBox="1"/>
          <p:nvPr/>
        </p:nvSpPr>
        <p:spPr>
          <a:xfrm>
            <a:off x="1862633" y="5045659"/>
            <a:ext cx="914400" cy="389534"/>
          </a:xfrm>
          <a:prstGeom prst="rect">
            <a:avLst/>
          </a:prstGeom>
          <a:noFill/>
          <a:ln/>
        </p:spPr>
        <p:txBody>
          <a:bodyPr wrap="square" lIns="0" tIns="0" rIns="0" bIns="0" rtlCol="0" anchor="ctr"/>
          <a:lstStyle/>
          <a:p>
            <a:pPr marL="0" indent="0" algn="ctr">
              <a:buNone/>
            </a:pPr>
            <a:r>
              <a:rPr lang="en-US" sz="700" kern="0" spc="150" dirty="0">
                <a:solidFill>
                  <a:srgbClr val="655B54"/>
                </a:solidFill>
                <a:latin typeface="Arial" pitchFamily="34" charset="0"/>
                <a:ea typeface="Arial" pitchFamily="34" charset="-122"/>
                <a:cs typeface="Arial" pitchFamily="34" charset="-120"/>
              </a:rPr>
              <a:t>MOSTRAR</a:t>
            </a:r>
            <a:endParaRPr lang="en-US" sz="700" dirty="0"/>
          </a:p>
          <a:p>
            <a:pPr marL="0" indent="0" algn="ctr">
              <a:buNone/>
            </a:pPr>
            <a:r>
              <a:rPr lang="en-US" sz="1100" b="1" dirty="0">
                <a:solidFill>
                  <a:srgbClr val="282828"/>
                </a:solidFill>
                <a:latin typeface="Arial" pitchFamily="34" charset="0"/>
                <a:ea typeface="Arial" pitchFamily="34" charset="-122"/>
                <a:cs typeface="Arial" pitchFamily="34" charset="-120"/>
              </a:rPr>
              <a:t>03 · 06</a:t>
            </a:r>
            <a:endParaRPr lang="en-US" sz="700" dirty="0"/>
          </a:p>
        </p:txBody>
      </p:sp>
      <p:sp>
        <p:nvSpPr>
          <p:cNvPr id="56" name="cy3"/>
          <p:cNvSpPr txBox="1"/>
          <p:nvPr/>
        </p:nvSpPr>
        <p:spPr>
          <a:xfrm>
            <a:off x="2828239" y="5045659"/>
            <a:ext cx="220370" cy="389534"/>
          </a:xfrm>
          <a:prstGeom prst="rect">
            <a:avLst/>
          </a:prstGeom>
          <a:noFill/>
          <a:ln/>
        </p:spPr>
        <p:txBody>
          <a:bodyPr wrap="square" lIns="0" tIns="0" rIns="0" bIns="0" rtlCol="0" anchor="ctr"/>
          <a:lstStyle/>
          <a:p>
            <a:pPr marL="0" indent="0" algn="ctr">
              <a:buNone/>
            </a:pPr>
            <a:r>
              <a:rPr lang="en-US" sz="1200" dirty="0">
                <a:solidFill>
                  <a:srgbClr val="655B54"/>
                </a:solidFill>
                <a:latin typeface="Arial" pitchFamily="34" charset="0"/>
                <a:ea typeface="Arial" pitchFamily="34" charset="-122"/>
                <a:cs typeface="Arial" pitchFamily="34" charset="-120"/>
              </a:rPr>
              <a:t>→</a:t>
            </a:r>
            <a:endParaRPr lang="en-US" sz="1200" dirty="0"/>
          </a:p>
        </p:txBody>
      </p:sp>
      <p:sp>
        <p:nvSpPr>
          <p:cNvPr id="57" name="cy4-box"/>
          <p:cNvSpPr/>
          <p:nvPr/>
        </p:nvSpPr>
        <p:spPr>
          <a:xfrm>
            <a:off x="3081528" y="5045659"/>
            <a:ext cx="914400" cy="389534"/>
          </a:xfrm>
          <a:prstGeom prst="roundRect">
            <a:avLst>
              <a:gd name="adj" fmla="val 28169"/>
            </a:avLst>
          </a:prstGeom>
          <a:solidFill>
            <a:srgbClr val="E6F3EC"/>
          </a:solidFill>
          <a:ln w="9525">
            <a:solidFill>
              <a:srgbClr val="BEDBCB"/>
            </a:solidFill>
            <a:prstDash val="solid"/>
          </a:ln>
        </p:spPr>
        <p:txBody>
          <a:bodyPr/>
          <a:lstStyle/>
          <a:p>
            <a:endParaRPr lang="en-US"/>
          </a:p>
        </p:txBody>
      </p:sp>
      <p:sp>
        <p:nvSpPr>
          <p:cNvPr id="58" name="cy4"/>
          <p:cNvSpPr txBox="1"/>
          <p:nvPr/>
        </p:nvSpPr>
        <p:spPr>
          <a:xfrm>
            <a:off x="3081528" y="5045659"/>
            <a:ext cx="914400" cy="389534"/>
          </a:xfrm>
          <a:prstGeom prst="rect">
            <a:avLst/>
          </a:prstGeom>
          <a:noFill/>
          <a:ln/>
        </p:spPr>
        <p:txBody>
          <a:bodyPr wrap="square" lIns="0" tIns="0" rIns="0" bIns="0" rtlCol="0" anchor="ctr"/>
          <a:lstStyle/>
          <a:p>
            <a:pPr marL="0" indent="0" algn="ctr">
              <a:buNone/>
            </a:pPr>
            <a:r>
              <a:rPr lang="en-US" sz="700" kern="0" spc="150" dirty="0">
                <a:solidFill>
                  <a:srgbClr val="655B54"/>
                </a:solidFill>
                <a:latin typeface="Arial" pitchFamily="34" charset="0"/>
                <a:ea typeface="Arial" pitchFamily="34" charset="-122"/>
                <a:cs typeface="Arial" pitchFamily="34" charset="-120"/>
              </a:rPr>
              <a:t>ACTUAR</a:t>
            </a:r>
            <a:endParaRPr lang="en-US" sz="700" dirty="0"/>
          </a:p>
          <a:p>
            <a:pPr marL="0" indent="0" algn="ctr">
              <a:buNone/>
            </a:pPr>
            <a:r>
              <a:rPr lang="en-US" sz="1100" b="1" dirty="0">
                <a:solidFill>
                  <a:srgbClr val="282828"/>
                </a:solidFill>
                <a:latin typeface="Arial" pitchFamily="34" charset="0"/>
                <a:ea typeface="Arial" pitchFamily="34" charset="-122"/>
                <a:cs typeface="Arial" pitchFamily="34" charset="-120"/>
              </a:rPr>
              <a:t>07 · 08</a:t>
            </a:r>
            <a:endParaRPr lang="en-US" sz="700" dirty="0"/>
          </a:p>
        </p:txBody>
      </p:sp>
      <p:sp>
        <p:nvSpPr>
          <p:cNvPr id="59" name="cy5"/>
          <p:cNvSpPr txBox="1"/>
          <p:nvPr/>
        </p:nvSpPr>
        <p:spPr>
          <a:xfrm>
            <a:off x="4047134" y="5045659"/>
            <a:ext cx="220370" cy="389534"/>
          </a:xfrm>
          <a:prstGeom prst="rect">
            <a:avLst/>
          </a:prstGeom>
          <a:noFill/>
          <a:ln/>
        </p:spPr>
        <p:txBody>
          <a:bodyPr wrap="square" lIns="0" tIns="0" rIns="0" bIns="0" rtlCol="0" anchor="ctr"/>
          <a:lstStyle/>
          <a:p>
            <a:pPr marL="0" indent="0" algn="ctr">
              <a:buNone/>
            </a:pPr>
            <a:r>
              <a:rPr lang="en-US" sz="1200" dirty="0">
                <a:solidFill>
                  <a:srgbClr val="655B54"/>
                </a:solidFill>
                <a:latin typeface="Arial" pitchFamily="34" charset="0"/>
                <a:ea typeface="Arial" pitchFamily="34" charset="-122"/>
                <a:cs typeface="Arial" pitchFamily="34" charset="-120"/>
              </a:rPr>
              <a:t>↺</a:t>
            </a:r>
            <a:endParaRPr lang="en-US" sz="1200" dirty="0"/>
          </a:p>
        </p:txBody>
      </p:sp>
      <p:sp>
        <p:nvSpPr>
          <p:cNvPr id="60" name="cy6-box"/>
          <p:cNvSpPr/>
          <p:nvPr/>
        </p:nvSpPr>
        <p:spPr>
          <a:xfrm>
            <a:off x="4301338" y="5045659"/>
            <a:ext cx="1100938" cy="389534"/>
          </a:xfrm>
          <a:prstGeom prst="roundRect">
            <a:avLst>
              <a:gd name="adj" fmla="val 28169"/>
            </a:avLst>
          </a:prstGeom>
          <a:solidFill>
            <a:srgbClr val="FFFFFF"/>
          </a:solidFill>
          <a:ln w="9525">
            <a:solidFill>
              <a:srgbClr val="D9D5CF"/>
            </a:solidFill>
            <a:prstDash val="solid"/>
          </a:ln>
        </p:spPr>
        <p:txBody>
          <a:bodyPr/>
          <a:lstStyle/>
          <a:p>
            <a:endParaRPr lang="en-US"/>
          </a:p>
        </p:txBody>
      </p:sp>
      <p:sp>
        <p:nvSpPr>
          <p:cNvPr id="61" name="cy6"/>
          <p:cNvSpPr txBox="1"/>
          <p:nvPr/>
        </p:nvSpPr>
        <p:spPr>
          <a:xfrm>
            <a:off x="4301338" y="5045659"/>
            <a:ext cx="1100938" cy="389534"/>
          </a:xfrm>
          <a:prstGeom prst="rect">
            <a:avLst/>
          </a:prstGeom>
          <a:noFill/>
          <a:ln/>
        </p:spPr>
        <p:txBody>
          <a:bodyPr wrap="square" lIns="0" tIns="0" rIns="0" bIns="0" rtlCol="0" anchor="ctr"/>
          <a:lstStyle/>
          <a:p>
            <a:pPr marL="0" indent="0" algn="ctr">
              <a:buNone/>
            </a:pPr>
            <a:r>
              <a:rPr lang="en-US" sz="700" kern="0" spc="150" dirty="0">
                <a:solidFill>
                  <a:srgbClr val="655B54"/>
                </a:solidFill>
                <a:latin typeface="Arial" pitchFamily="34" charset="0"/>
                <a:ea typeface="Arial" pitchFamily="34" charset="-122"/>
                <a:cs typeface="Arial" pitchFamily="34" charset="-120"/>
              </a:rPr>
              <a:t>LO SOSTIENEN</a:t>
            </a:r>
            <a:endParaRPr lang="en-US" sz="700" dirty="0"/>
          </a:p>
          <a:p>
            <a:pPr marL="0" indent="0" algn="ctr">
              <a:buNone/>
            </a:pPr>
            <a:r>
              <a:rPr lang="en-US" sz="1100" b="1" dirty="0">
                <a:solidFill>
                  <a:srgbClr val="282828"/>
                </a:solidFill>
                <a:latin typeface="Arial" pitchFamily="34" charset="0"/>
                <a:ea typeface="Arial" pitchFamily="34" charset="-122"/>
                <a:cs typeface="Arial" pitchFamily="34" charset="-120"/>
              </a:rPr>
              <a:t>04 · 05</a:t>
            </a:r>
            <a:endParaRPr lang="en-US" sz="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52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65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65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78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78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10" presetClass="entr" presetSubtype="0" fill="hold" grpId="0" nodeType="withEffect">
                                  <p:stCondLst>
                                    <p:cond delay="78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78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91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grpId="0" nodeType="withEffect">
                                  <p:stCondLst>
                                    <p:cond delay="91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par>
                                <p:cTn id="62" presetID="10" presetClass="entr" presetSubtype="0" fill="hold" grpId="0" nodeType="withEffect">
                                  <p:stCondLst>
                                    <p:cond delay="91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par>
                                <p:cTn id="65" presetID="10" presetClass="entr" presetSubtype="0" fill="hold" grpId="0" nodeType="withEffect">
                                  <p:stCondLst>
                                    <p:cond delay="91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grpId="0" nodeType="withEffect">
                                  <p:stCondLst>
                                    <p:cond delay="104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par>
                                <p:cTn id="71" presetID="10" presetClass="entr" presetSubtype="0" fill="hold" grpId="0" nodeType="withEffect">
                                  <p:stCondLst>
                                    <p:cond delay="104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grpId="0" nodeType="withEffect">
                                  <p:stCondLst>
                                    <p:cond delay="104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grpId="0" nodeType="withEffect">
                                  <p:stCondLst>
                                    <p:cond delay="104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500"/>
                                        <p:tgtEl>
                                          <p:spTgt spid="38"/>
                                        </p:tgtEl>
                                      </p:cBhvr>
                                    </p:animEffect>
                                  </p:childTnLst>
                                </p:cTn>
                              </p:par>
                              <p:par>
                                <p:cTn id="80" presetID="10" presetClass="entr" presetSubtype="0" fill="hold" grpId="0" nodeType="withEffect">
                                  <p:stCondLst>
                                    <p:cond delay="117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500"/>
                                        <p:tgtEl>
                                          <p:spTgt spid="39"/>
                                        </p:tgtEl>
                                      </p:cBhvr>
                                    </p:animEffect>
                                  </p:childTnLst>
                                </p:cTn>
                              </p:par>
                              <p:par>
                                <p:cTn id="83" presetID="10" presetClass="entr" presetSubtype="0" fill="hold" grpId="0" nodeType="withEffect">
                                  <p:stCondLst>
                                    <p:cond delay="117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500"/>
                                        <p:tgtEl>
                                          <p:spTgt spid="40"/>
                                        </p:tgtEl>
                                      </p:cBhvr>
                                    </p:animEffect>
                                  </p:childTnLst>
                                </p:cTn>
                              </p:par>
                              <p:par>
                                <p:cTn id="86" presetID="10" presetClass="entr" presetSubtype="0" fill="hold" grpId="0" nodeType="withEffect">
                                  <p:stCondLst>
                                    <p:cond delay="117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500"/>
                                        <p:tgtEl>
                                          <p:spTgt spid="41"/>
                                        </p:tgtEl>
                                      </p:cBhvr>
                                    </p:animEffect>
                                  </p:childTnLst>
                                </p:cTn>
                              </p:par>
                              <p:par>
                                <p:cTn id="89" presetID="10" presetClass="entr" presetSubtype="0" fill="hold" grpId="0" nodeType="withEffect">
                                  <p:stCondLst>
                                    <p:cond delay="117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500"/>
                                        <p:tgtEl>
                                          <p:spTgt spid="42"/>
                                        </p:tgtEl>
                                      </p:cBhvr>
                                    </p:animEffect>
                                  </p:childTnLst>
                                </p:cTn>
                              </p:par>
                              <p:par>
                                <p:cTn id="92" presetID="10" presetClass="entr" presetSubtype="0" fill="hold" grpId="0" nodeType="withEffect">
                                  <p:stCondLst>
                                    <p:cond delay="130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500"/>
                                        <p:tgtEl>
                                          <p:spTgt spid="43"/>
                                        </p:tgtEl>
                                      </p:cBhvr>
                                    </p:animEffect>
                                  </p:childTnLst>
                                </p:cTn>
                              </p:par>
                              <p:par>
                                <p:cTn id="95" presetID="10" presetClass="entr" presetSubtype="0" fill="hold" grpId="0" nodeType="withEffect">
                                  <p:stCondLst>
                                    <p:cond delay="130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500"/>
                                        <p:tgtEl>
                                          <p:spTgt spid="44"/>
                                        </p:tgtEl>
                                      </p:cBhvr>
                                    </p:animEffect>
                                  </p:childTnLst>
                                </p:cTn>
                              </p:par>
                              <p:par>
                                <p:cTn id="98" presetID="10" presetClass="entr" presetSubtype="0" fill="hold" grpId="0" nodeType="withEffect">
                                  <p:stCondLst>
                                    <p:cond delay="130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500"/>
                                        <p:tgtEl>
                                          <p:spTgt spid="45"/>
                                        </p:tgtEl>
                                      </p:cBhvr>
                                    </p:animEffect>
                                  </p:childTnLst>
                                </p:cTn>
                              </p:par>
                              <p:par>
                                <p:cTn id="101" presetID="10" presetClass="entr" presetSubtype="0" fill="hold" grpId="0" nodeType="withEffect">
                                  <p:stCondLst>
                                    <p:cond delay="130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500"/>
                                        <p:tgtEl>
                                          <p:spTgt spid="46"/>
                                        </p:tgtEl>
                                      </p:cBhvr>
                                    </p:animEffect>
                                  </p:childTnLst>
                                </p:cTn>
                              </p:par>
                              <p:par>
                                <p:cTn id="104" presetID="10" presetClass="entr" presetSubtype="0" fill="hold" grpId="0" nodeType="withEffect">
                                  <p:stCondLst>
                                    <p:cond delay="143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500"/>
                                        <p:tgtEl>
                                          <p:spTgt spid="47"/>
                                        </p:tgtEl>
                                      </p:cBhvr>
                                    </p:animEffect>
                                  </p:childTnLst>
                                </p:cTn>
                              </p:par>
                              <p:par>
                                <p:cTn id="107" presetID="10" presetClass="entr" presetSubtype="0" fill="hold" grpId="0" nodeType="withEffect">
                                  <p:stCondLst>
                                    <p:cond delay="143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500"/>
                                        <p:tgtEl>
                                          <p:spTgt spid="48"/>
                                        </p:tgtEl>
                                      </p:cBhvr>
                                    </p:animEffect>
                                  </p:childTnLst>
                                </p:cTn>
                              </p:par>
                              <p:par>
                                <p:cTn id="110" presetID="10" presetClass="entr" presetSubtype="0" fill="hold" grpId="0" nodeType="withEffect">
                                  <p:stCondLst>
                                    <p:cond delay="143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500"/>
                                        <p:tgtEl>
                                          <p:spTgt spid="49"/>
                                        </p:tgtEl>
                                      </p:cBhvr>
                                    </p:animEffect>
                                  </p:childTnLst>
                                </p:cTn>
                              </p:par>
                              <p:par>
                                <p:cTn id="113" presetID="10" presetClass="entr" presetSubtype="0" fill="hold" grpId="0" nodeType="withEffect">
                                  <p:stCondLst>
                                    <p:cond delay="143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500"/>
                                        <p:tgtEl>
                                          <p:spTgt spid="50"/>
                                        </p:tgtEl>
                                      </p:cBhvr>
                                    </p:animEffect>
                                  </p:childTnLst>
                                </p:cTn>
                              </p:par>
                              <p:par>
                                <p:cTn id="116" presetID="10" presetClass="entr" presetSubtype="0" fill="hold" grpId="0" nodeType="withEffect">
                                  <p:stCondLst>
                                    <p:cond delay="156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500"/>
                                        <p:tgtEl>
                                          <p:spTgt spid="51"/>
                                        </p:tgtEl>
                                      </p:cBhvr>
                                    </p:animEffect>
                                  </p:childTnLst>
                                </p:cTn>
                              </p:par>
                              <p:par>
                                <p:cTn id="119" presetID="10" presetClass="entr" presetSubtype="0" fill="hold" grpId="0" nodeType="withEffect">
                                  <p:stCondLst>
                                    <p:cond delay="156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500"/>
                                        <p:tgtEl>
                                          <p:spTgt spid="52"/>
                                        </p:tgtEl>
                                      </p:cBhvr>
                                    </p:animEffect>
                                  </p:childTnLst>
                                </p:cTn>
                              </p:par>
                              <p:par>
                                <p:cTn id="122" presetID="10" presetClass="entr" presetSubtype="0" fill="hold" grpId="0" nodeType="withEffect">
                                  <p:stCondLst>
                                    <p:cond delay="169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500"/>
                                        <p:tgtEl>
                                          <p:spTgt spid="53"/>
                                        </p:tgtEl>
                                      </p:cBhvr>
                                    </p:animEffect>
                                  </p:childTnLst>
                                </p:cTn>
                              </p:par>
                              <p:par>
                                <p:cTn id="125" presetID="10" presetClass="entr" presetSubtype="0" fill="hold" grpId="0" nodeType="withEffect">
                                  <p:stCondLst>
                                    <p:cond delay="182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500"/>
                                        <p:tgtEl>
                                          <p:spTgt spid="54"/>
                                        </p:tgtEl>
                                      </p:cBhvr>
                                    </p:animEffect>
                                  </p:childTnLst>
                                </p:cTn>
                              </p:par>
                              <p:par>
                                <p:cTn id="128" presetID="10" presetClass="entr" presetSubtype="0" fill="hold" grpId="0" nodeType="withEffect">
                                  <p:stCondLst>
                                    <p:cond delay="182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500"/>
                                        <p:tgtEl>
                                          <p:spTgt spid="55"/>
                                        </p:tgtEl>
                                      </p:cBhvr>
                                    </p:animEffect>
                                  </p:childTnLst>
                                </p:cTn>
                              </p:par>
                              <p:par>
                                <p:cTn id="131" presetID="10" presetClass="entr" presetSubtype="0" fill="hold" grpId="0" nodeType="withEffect">
                                  <p:stCondLst>
                                    <p:cond delay="195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500"/>
                                        <p:tgtEl>
                                          <p:spTgt spid="56"/>
                                        </p:tgtEl>
                                      </p:cBhvr>
                                    </p:animEffect>
                                  </p:childTnLst>
                                </p:cTn>
                              </p:par>
                              <p:par>
                                <p:cTn id="134" presetID="10" presetClass="entr" presetSubtype="0" fill="hold" grpId="0" nodeType="withEffect">
                                  <p:stCondLst>
                                    <p:cond delay="208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500"/>
                                        <p:tgtEl>
                                          <p:spTgt spid="57"/>
                                        </p:tgtEl>
                                      </p:cBhvr>
                                    </p:animEffect>
                                  </p:childTnLst>
                                </p:cTn>
                              </p:par>
                              <p:par>
                                <p:cTn id="137" presetID="10" presetClass="entr" presetSubtype="0" fill="hold" grpId="0" nodeType="withEffect">
                                  <p:stCondLst>
                                    <p:cond delay="208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500"/>
                                        <p:tgtEl>
                                          <p:spTgt spid="58"/>
                                        </p:tgtEl>
                                      </p:cBhvr>
                                    </p:animEffect>
                                  </p:childTnLst>
                                </p:cTn>
                              </p:par>
                              <p:par>
                                <p:cTn id="140" presetID="10" presetClass="entr" presetSubtype="0" fill="hold" grpId="0" nodeType="withEffect">
                                  <p:stCondLst>
                                    <p:cond delay="221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500"/>
                                        <p:tgtEl>
                                          <p:spTgt spid="59"/>
                                        </p:tgtEl>
                                      </p:cBhvr>
                                    </p:animEffect>
                                  </p:childTnLst>
                                </p:cTn>
                              </p:par>
                              <p:par>
                                <p:cTn id="143" presetID="10" presetClass="entr" presetSubtype="0" fill="hold" grpId="0" nodeType="withEffect">
                                  <p:stCondLst>
                                    <p:cond delay="234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500"/>
                                        <p:tgtEl>
                                          <p:spTgt spid="60"/>
                                        </p:tgtEl>
                                      </p:cBhvr>
                                    </p:animEffect>
                                  </p:childTnLst>
                                </p:cTn>
                              </p:par>
                              <p:par>
                                <p:cTn id="146" presetID="10" presetClass="entr" presetSubtype="0" fill="hold" grpId="0" nodeType="withEffect">
                                  <p:stCondLst>
                                    <p:cond delay="234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05 / 19</a:t>
            </a:r>
            <a:endParaRPr lang="en-US" sz="800" dirty="0"/>
          </a:p>
        </p:txBody>
      </p:sp>
      <p:sp>
        <p:nvSpPr>
          <p:cNvPr id="11" name="bg-timeline"/>
          <p:cNvSpPr/>
          <p:nvPr/>
        </p:nvSpPr>
        <p:spPr>
          <a:xfrm>
            <a:off x="0" y="6307531"/>
            <a:ext cx="3208630"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01 / BITÁCORA DE MOVILIDAD · EL CORAZÓN</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El módulo que</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produce el dato</a:t>
            </a:r>
            <a:endParaRPr lang="en-US" sz="3800" dirty="0"/>
          </a:p>
        </p:txBody>
      </p:sp>
      <p:sp>
        <p:nvSpPr>
          <p:cNvPr id="17" name="lead"/>
          <p:cNvSpPr txBox="1"/>
          <p:nvPr/>
        </p:nvSpPr>
        <p:spPr>
          <a:xfrm>
            <a:off x="643738" y="2540203"/>
            <a:ext cx="5757062" cy="524866"/>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Saber cuánta gente se mueve, cómo, con cuántas personas y por dónde, para gestionar el riesgo con evidencia.</a:t>
            </a:r>
            <a:endParaRPr lang="en-US" sz="1350" dirty="0"/>
          </a:p>
        </p:txBody>
      </p:sp>
      <p:sp>
        <p:nvSpPr>
          <p:cNvPr id="18" name="f0-line"/>
          <p:cNvSpPr/>
          <p:nvPr/>
        </p:nvSpPr>
        <p:spPr>
          <a:xfrm>
            <a:off x="643738" y="3166567"/>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268066"/>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50692"/>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Un registro de dos toques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Modo, cantidad de acompañantes, origen y destino. Cada joven registra su propio viaje; los acompañantes se cuentan, nunca se nombran.</a:t>
            </a:r>
            <a:endParaRPr lang="en-US" sz="1200" dirty="0"/>
          </a:p>
        </p:txBody>
      </p:sp>
      <p:sp>
        <p:nvSpPr>
          <p:cNvPr id="21" name="f1-line"/>
          <p:cNvSpPr/>
          <p:nvPr/>
        </p:nvSpPr>
        <p:spPr>
          <a:xfrm>
            <a:off x="643738" y="3908146"/>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09644"/>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3993185"/>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Cinco puntos de registro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Carnet en la tableta del liceo, app del estudiante, del acompañante, del tutor y panel. El punto de entrada queda guardado como dato.</a:t>
            </a:r>
            <a:endParaRPr lang="en-US" sz="1200" dirty="0"/>
          </a:p>
        </p:txBody>
      </p:sp>
      <p:sp>
        <p:nvSpPr>
          <p:cNvPr id="24" name="value-icon"/>
          <p:cNvSpPr txBox="1"/>
          <p:nvPr/>
        </p:nvSpPr>
        <p:spPr>
          <a:xfrm>
            <a:off x="643738" y="4717390"/>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717390"/>
            <a:ext cx="5257800" cy="597103"/>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Indicadores desagregados por género, edad y discapacidad sin encuestas en papel. Y como se guarda por dónde entró cada registro, mide la brecha digital con datos reales.</a:t>
            </a:r>
            <a:endParaRPr lang="en-US" sz="1050" dirty="0"/>
          </a:p>
        </p:txBody>
      </p:sp>
      <p:sp>
        <p:nvSpPr>
          <p:cNvPr id="26" name="contribution"/>
          <p:cNvSpPr txBox="1"/>
          <p:nvPr/>
        </p:nvSpPr>
        <p:spPr>
          <a:xfrm>
            <a:off x="643738" y="5399532"/>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A3.1 Necesidades / A3.5 Usabilidad / A3.6 Mejora continua</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06 / 19</a:t>
            </a:r>
            <a:endParaRPr lang="en-US" sz="800" dirty="0"/>
          </a:p>
        </p:txBody>
      </p:sp>
      <p:sp>
        <p:nvSpPr>
          <p:cNvPr id="11" name="bg-timeline"/>
          <p:cNvSpPr/>
          <p:nvPr/>
        </p:nvSpPr>
        <p:spPr>
          <a:xfrm>
            <a:off x="0" y="6307531"/>
            <a:ext cx="3849624"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02 / MONITOREO CIUDADANO</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La comunidad</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reporta y da seguimiento</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Que la participación en el monitoreo ciudadano de la movilidad, tal como la nombra el Efecto Directo 3, sea una acción concreta de tres toques.</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Un punto, una categoría, una foto opcional</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Cruce peligroso, sin acera, sin iluminación, exceso de velocidad o accidente. Foto del entorno, nunca de personas.</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Tres estados visibles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Recibido, validado y resuelto. Lo validado alimenta las alertas y el panel.</a:t>
            </a:r>
            <a:endParaRPr lang="en-US" sz="1200" dirty="0"/>
          </a:p>
        </p:txBody>
      </p:sp>
      <p:sp>
        <p:nvSpPr>
          <p:cNvPr id="24" name="value-icon"/>
          <p:cNvSpPr txBox="1"/>
          <p:nvPr/>
        </p:nvSpPr>
        <p:spPr>
          <a:xfrm>
            <a:off x="643738" y="4577486"/>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77486"/>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Datos georreferenciados desde el territorio, con fecha y hora, para priorizar intervenciones por perímetro escolar con evidencia y no por percepción.</a:t>
            </a:r>
            <a:endParaRPr lang="en-US" sz="1050" dirty="0"/>
          </a:p>
        </p:txBody>
      </p:sp>
      <p:sp>
        <p:nvSpPr>
          <p:cNvPr id="26" name="contribution"/>
          <p:cNvSpPr txBox="1"/>
          <p:nvPr/>
        </p:nvSpPr>
        <p:spPr>
          <a:xfrm>
            <a:off x="643738" y="5077663"/>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Efecto Directo 3 Monitoreo ciudadano / A3.6 Mejora</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07 / 19</a:t>
            </a:r>
            <a:endParaRPr lang="en-US" sz="800" dirty="0"/>
          </a:p>
        </p:txBody>
      </p:sp>
      <p:sp>
        <p:nvSpPr>
          <p:cNvPr id="11" name="bg-timeline"/>
          <p:cNvSpPr/>
          <p:nvPr/>
        </p:nvSpPr>
        <p:spPr>
          <a:xfrm>
            <a:off x="0" y="6307531"/>
            <a:ext cx="4491533"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03 / MAPA DE MOVILIDAD SEGURA</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La información</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de su entorno</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Integrar en una sola vista rutas, transporte colectivo, cruces seguros, puntos de interés, alertas y recomendaciones. Es el producto que da nombre al Producto 3.1.</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Seis capas activables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Sobre el mapa de la comunidad. Los puntos de interés incluyen los cuarenta liceos, paradas, centros de salud y destacamentos.</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Vista en lista equivalente</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Cada capa se puede leer sin ver el mapa, para quien usa lector de pantalla.</a:t>
            </a:r>
            <a:endParaRPr lang="en-US" sz="1200" dirty="0"/>
          </a:p>
        </p:txBody>
      </p:sp>
      <p:sp>
        <p:nvSpPr>
          <p:cNvPr id="24" name="value-icon"/>
          <p:cNvSpPr txBox="1"/>
          <p:nvPr/>
        </p:nvSpPr>
        <p:spPr>
          <a:xfrm>
            <a:off x="643738" y="4577486"/>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77486"/>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Convierte el levantamiento de Entrena y del INTRANT en información viva y consultable, en un formato abierto que las instituciones pueden reutilizar.</a:t>
            </a:r>
            <a:endParaRPr lang="en-US" sz="1050" dirty="0"/>
          </a:p>
        </p:txBody>
      </p:sp>
      <p:sp>
        <p:nvSpPr>
          <p:cNvPr id="26" name="contribution"/>
          <p:cNvSpPr txBox="1"/>
          <p:nvPr/>
        </p:nvSpPr>
        <p:spPr>
          <a:xfrm>
            <a:off x="643738" y="5077663"/>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A3.4 Información de movilidad / A3.3 Coordinación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08 / 19</a:t>
            </a:r>
            <a:endParaRPr lang="en-US" sz="800" dirty="0"/>
          </a:p>
        </p:txBody>
      </p:sp>
      <p:sp>
        <p:nvSpPr>
          <p:cNvPr id="11" name="bg-timeline"/>
          <p:cNvSpPr/>
          <p:nvPr/>
        </p:nvSpPr>
        <p:spPr>
          <a:xfrm>
            <a:off x="0" y="6307531"/>
            <a:ext cx="5133442"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04 / BIENVENIDA Y CONSENTIMIENTO · HABILITADOR</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Un inicio que</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incluye a cada joven</a:t>
            </a:r>
            <a:endParaRPr lang="en-US" sz="3800" dirty="0"/>
          </a:p>
        </p:txBody>
      </p:sp>
      <p:sp>
        <p:nvSpPr>
          <p:cNvPr id="17" name="lead"/>
          <p:cNvSpPr txBox="1"/>
          <p:nvPr/>
        </p:nvSpPr>
        <p:spPr>
          <a:xfrm>
            <a:off x="643738" y="2540203"/>
            <a:ext cx="5757062" cy="677570"/>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Garantizar consentimiento informado y accesibilidad desde el primer uso. Sin este módulo no es posible capturar ningún dato de forma legítima, porque el público son personas menores de edad.</a:t>
            </a:r>
            <a:endParaRPr lang="en-US" sz="1350" dirty="0"/>
          </a:p>
        </p:txBody>
      </p:sp>
      <p:sp>
        <p:nvSpPr>
          <p:cNvPr id="18" name="f0-line"/>
          <p:cNvSpPr/>
          <p:nvPr/>
        </p:nvSpPr>
        <p:spPr>
          <a:xfrm>
            <a:off x="643738" y="3319272"/>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420770"/>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403397"/>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Cuatro pasos en lenguaje claro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Consentimiento con vía de acompañamiento del tutor, comunidad y liceo, modo habitual de desplazamiento y preferencias de accesibilidad.</a:t>
            </a:r>
            <a:endParaRPr lang="en-US" sz="1200" dirty="0"/>
          </a:p>
        </p:txBody>
      </p:sp>
      <p:sp>
        <p:nvSpPr>
          <p:cNvPr id="21" name="f1-line"/>
          <p:cNvSpPr/>
          <p:nvPr/>
        </p:nvSpPr>
        <p:spPr>
          <a:xfrm>
            <a:off x="643738" y="4060850"/>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162349"/>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144975"/>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Privacidad desde el primer uso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Explica qué se recoge y para qué antes de pedir cualquier dato.</a:t>
            </a:r>
            <a:endParaRPr lang="en-US" sz="1200" dirty="0"/>
          </a:p>
        </p:txBody>
      </p:sp>
      <p:sp>
        <p:nvSpPr>
          <p:cNvPr id="24" name="value-icon"/>
          <p:cNvSpPr txBox="1"/>
          <p:nvPr/>
        </p:nvSpPr>
        <p:spPr>
          <a:xfrm>
            <a:off x="643738" y="4696358"/>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696358"/>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Cumple la Ley 172-13 de protección de datos de forma verificable ante la Unión Europea y ante las familias, y evita que la accesibilidad quede escondida en un menú.</a:t>
            </a:r>
            <a:endParaRPr lang="en-US" sz="1050" dirty="0"/>
          </a:p>
        </p:txBody>
      </p:sp>
      <p:sp>
        <p:nvSpPr>
          <p:cNvPr id="26" name="contribution"/>
          <p:cNvSpPr txBox="1"/>
          <p:nvPr/>
        </p:nvSpPr>
        <p:spPr>
          <a:xfrm>
            <a:off x="643738" y="5196535"/>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A3.1 Necesidades / A3.5 Usabilidad e inclusión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09 / 19</a:t>
            </a:r>
            <a:endParaRPr lang="en-US" sz="800" dirty="0"/>
          </a:p>
        </p:txBody>
      </p:sp>
      <p:sp>
        <p:nvSpPr>
          <p:cNvPr id="11" name="bg-timeline"/>
          <p:cNvSpPr/>
          <p:nvPr/>
        </p:nvSpPr>
        <p:spPr>
          <a:xfrm>
            <a:off x="0" y="6307531"/>
            <a:ext cx="5775350"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05 / PERFIL, ACCESIBILIDAD E INCLUSIÓN · DERECHOS</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Cada persona</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controla su experiencia</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Que el ejercicio de derechos (acceso, privacidad y no discriminación) sea una función visible y usable, no una cláusula en un documento.</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Accesibilidad aplicada a toda la app</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Texto ampliado, alto contraste, lectura por voz y reducir movimiento, activadas desde el primer uso.</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Autoidentificación opcional</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Género y discapacidad siempre voluntarios y editables. Permiten indicadores desagregados sin obligar a nadie a declarar nada.</a:t>
            </a:r>
            <a:endParaRPr lang="en-US" sz="1200" dirty="0"/>
          </a:p>
        </p:txBody>
      </p:sp>
      <p:sp>
        <p:nvSpPr>
          <p:cNvPr id="24" name="value-icon"/>
          <p:cNvSpPr txBox="1"/>
          <p:nvPr/>
        </p:nvSpPr>
        <p:spPr>
          <a:xfrm>
            <a:off x="643738" y="4751222"/>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751222"/>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Cumplimiento verificable ante la Unión Europea y ante las familias, con el derecho a borrar la cuenta y los datos desde la propia app.</a:t>
            </a:r>
            <a:endParaRPr lang="en-US" sz="1050" dirty="0"/>
          </a:p>
        </p:txBody>
      </p:sp>
      <p:sp>
        <p:nvSpPr>
          <p:cNvPr id="26" name="contribution"/>
          <p:cNvSpPr txBox="1"/>
          <p:nvPr/>
        </p:nvSpPr>
        <p:spPr>
          <a:xfrm>
            <a:off x="643738" y="5251399"/>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A3.5 Usabilidad e inclusión / Derechos humanos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10 / 19</a:t>
            </a:r>
            <a:endParaRPr lang="en-US" sz="800" dirty="0"/>
          </a:p>
        </p:txBody>
      </p:sp>
      <p:sp>
        <p:nvSpPr>
          <p:cNvPr id="11" name="bg-timeline"/>
          <p:cNvSpPr/>
          <p:nvPr/>
        </p:nvSpPr>
        <p:spPr>
          <a:xfrm>
            <a:off x="0" y="6307531"/>
            <a:ext cx="6416345"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06 / RUTAS SEGURAS A LA ESCUELA</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El trayecto</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pasa por cruces seguros</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Llevar la teoría de cambio a la práctica cotidiana: si el joven usa el cruce peatonal, disminuye el riesgo. La aplicación se lo pone en el camino.</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Cada cruce seguro es una parada más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Ruta a pie o combinada con guagua, motoconcho o autobús escolar, con itinerario paso a paso.</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Tramos etiquetados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Acera, rampa, pendiente e iluminación, con filtro de ruta accesible.</a:t>
            </a:r>
            <a:endParaRPr lang="en-US" sz="1200" dirty="0"/>
          </a:p>
        </p:txBody>
      </p:sp>
      <p:sp>
        <p:nvSpPr>
          <p:cNvPr id="24" name="value-icon"/>
          <p:cNvSpPr txBox="1"/>
          <p:nvPr/>
        </p:nvSpPr>
        <p:spPr>
          <a:xfrm>
            <a:off x="643738" y="4577486"/>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77486"/>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Menos espera en la vía y menos improvisación. Es además el uso diario que sostiene a la Bitácora: sin motivo para abrir la aplicación no hay registro que llenar.</a:t>
            </a:r>
            <a:endParaRPr lang="en-US" sz="1050" dirty="0"/>
          </a:p>
        </p:txBody>
      </p:sp>
      <p:sp>
        <p:nvSpPr>
          <p:cNvPr id="26" name="contribution"/>
          <p:cNvSpPr txBox="1"/>
          <p:nvPr/>
        </p:nvSpPr>
        <p:spPr>
          <a:xfrm>
            <a:off x="643738" y="5077663"/>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A3.4 Información de movilidad / A3.3 Coordinación</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11 / 19</a:t>
            </a:r>
            <a:endParaRPr lang="en-US" sz="800" dirty="0"/>
          </a:p>
        </p:txBody>
      </p:sp>
      <p:sp>
        <p:nvSpPr>
          <p:cNvPr id="11" name="bg-timeline"/>
          <p:cNvSpPr/>
          <p:nvPr/>
        </p:nvSpPr>
        <p:spPr>
          <a:xfrm>
            <a:off x="0" y="6307531"/>
            <a:ext cx="7058254"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07 / ALERTAS Y RECOMENDACIONES</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Lo que se valida</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vuelve a la calle</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Cerrar el ciclo: que lo reportado y validado vuelva a la calle como aviso útil, y que la prevención llegue donde y cuando importa.</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Alertas por zona escolar</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Incidente validado, obra, inundación u hora de salida. Expiran solas y se entregan al acercarse al perímetro del liceo.</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Recomendaciones que redacta Entrena</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Breves, por modo, hora y zona, editadas desde el panel sin programar.</a:t>
            </a:r>
            <a:endParaRPr lang="en-US" sz="1200" dirty="0"/>
          </a:p>
        </p:txBody>
      </p:sp>
      <p:sp>
        <p:nvSpPr>
          <p:cNvPr id="24" name="value-icon"/>
          <p:cNvSpPr txBox="1"/>
          <p:nvPr/>
        </p:nvSpPr>
        <p:spPr>
          <a:xfrm>
            <a:off x="643738" y="4577486"/>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77486"/>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Comunicación directa con la red de jóvenes ya formada por Juventud en Tránsito, y base para medir si un aviso modifica el comportamiento en la vía.</a:t>
            </a:r>
            <a:endParaRPr lang="en-US" sz="1050" dirty="0"/>
          </a:p>
        </p:txBody>
      </p:sp>
      <p:sp>
        <p:nvSpPr>
          <p:cNvPr id="26" name="contribution"/>
          <p:cNvSpPr txBox="1"/>
          <p:nvPr/>
        </p:nvSpPr>
        <p:spPr>
          <a:xfrm>
            <a:off x="643738" y="5077663"/>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A3.4 Recomendaciones / A3.6 Mejora continua</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12 / 19</a:t>
            </a:r>
            <a:endParaRPr lang="en-US" sz="800" dirty="0"/>
          </a:p>
        </p:txBody>
      </p:sp>
      <p:sp>
        <p:nvSpPr>
          <p:cNvPr id="11" name="bg-timeline"/>
          <p:cNvSpPr/>
          <p:nvPr/>
        </p:nvSpPr>
        <p:spPr>
          <a:xfrm>
            <a:off x="0" y="6307531"/>
            <a:ext cx="7700162"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08 / EDUCACIÓN VIAL GAMIFICADA</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Aprender</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en el camino</a:t>
            </a:r>
            <a:endParaRPr lang="en-US" sz="3800" dirty="0"/>
          </a:p>
        </p:txBody>
      </p:sp>
      <p:sp>
        <p:nvSpPr>
          <p:cNvPr id="17" name="lead"/>
          <p:cNvSpPr txBox="1"/>
          <p:nvPr/>
        </p:nvSpPr>
        <p:spPr>
          <a:xfrm>
            <a:off x="643738" y="2540203"/>
            <a:ext cx="5757062" cy="558698"/>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Unir el componente educativo con el uso real de la plataforma, de modo que aprender, aplicar en la vía y registrar formen un mismo ciclo.</a:t>
            </a:r>
            <a:endParaRPr lang="en-US" sz="1350" dirty="0"/>
          </a:p>
        </p:txBody>
      </p:sp>
      <p:sp>
        <p:nvSpPr>
          <p:cNvPr id="18" name="f0-line"/>
          <p:cNvSpPr/>
          <p:nvPr/>
        </p:nvSpPr>
        <p:spPr>
          <a:xfrm>
            <a:off x="643738" y="3200400"/>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30189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28543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Niveles, puntos e insignias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Retos cortos con explicación en cada respuesta, y un banco de preguntas que administra Entrena por tema: peatón, pasajero de motoconcho y guagua, derechos en la vía.</a:t>
            </a:r>
            <a:endParaRPr lang="en-US" sz="1200" dirty="0"/>
          </a:p>
        </p:txBody>
      </p:sp>
      <p:sp>
        <p:nvSpPr>
          <p:cNvPr id="21" name="f1-line"/>
          <p:cNvSpPr/>
          <p:nvPr/>
        </p:nvSpPr>
        <p:spPr>
          <a:xfrm>
            <a:off x="643738" y="3941978"/>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4347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27018"/>
            <a:ext cx="5122469" cy="483718"/>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Insignias por participar</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También se ganan registrando trayectos y con reportes validados.</a:t>
            </a:r>
            <a:endParaRPr lang="en-US" sz="1200" dirty="0"/>
          </a:p>
        </p:txBody>
      </p:sp>
      <p:sp>
        <p:nvSpPr>
          <p:cNvPr id="24" name="value-icon"/>
          <p:cNvSpPr txBox="1"/>
          <p:nvPr/>
        </p:nvSpPr>
        <p:spPr>
          <a:xfrm>
            <a:off x="643738" y="4577486"/>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77486"/>
            <a:ext cx="5257800" cy="597103"/>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Motiva a la red de jóvenes y deja evidencia de aprendizaje por tema para los informes del proyecto. El contenido se co-crea con Entrena a partir del currículo de Juventud en Tránsito.</a:t>
            </a:r>
            <a:endParaRPr lang="en-US" sz="1050" dirty="0"/>
          </a:p>
        </p:txBody>
      </p:sp>
      <p:sp>
        <p:nvSpPr>
          <p:cNvPr id="26" name="contribution"/>
          <p:cNvSpPr txBox="1"/>
          <p:nvPr/>
        </p:nvSpPr>
        <p:spPr>
          <a:xfrm>
            <a:off x="643738" y="5259629"/>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Componente educativo / A3.6 Mejora continua</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13 / 19</a:t>
            </a:r>
            <a:endParaRPr lang="en-US" sz="800" dirty="0"/>
          </a:p>
        </p:txBody>
      </p:sp>
      <p:sp>
        <p:nvSpPr>
          <p:cNvPr id="11" name="bg-timeline"/>
          <p:cNvSpPr/>
          <p:nvPr/>
        </p:nvSpPr>
        <p:spPr>
          <a:xfrm>
            <a:off x="0" y="6307531"/>
            <a:ext cx="8342071"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TRANSVERSAL A LOS OCHO MÓDULOS / A3.5</a:t>
            </a:r>
            <a:endParaRPr lang="en-US" sz="850" dirty="0"/>
          </a:p>
        </p:txBody>
      </p:sp>
      <p:sp>
        <p:nvSpPr>
          <p:cNvPr id="16" name="title"/>
          <p:cNvSpPr txBox="1"/>
          <p:nvPr/>
        </p:nvSpPr>
        <p:spPr>
          <a:xfrm>
            <a:off x="643738" y="1337767"/>
            <a:ext cx="6265469" cy="991210"/>
          </a:xfrm>
          <a:prstGeom prst="rect">
            <a:avLst/>
          </a:prstGeom>
          <a:noFill/>
          <a:ln/>
        </p:spPr>
        <p:txBody>
          <a:bodyPr wrap="square" lIns="0" tIns="0" rIns="0" bIns="0" rtlCol="0" anchor="t"/>
          <a:lstStyle/>
          <a:p>
            <a:pPr marL="0" indent="0">
              <a:lnSpc>
                <a:spcPct val="95000"/>
              </a:lnSpc>
              <a:buNone/>
            </a:pPr>
            <a:r>
              <a:rPr lang="en-US" sz="3400" b="1" kern="0" spc="-150" dirty="0">
                <a:solidFill>
                  <a:srgbClr val="282828"/>
                </a:solidFill>
                <a:latin typeface="Arial" pitchFamily="34" charset="0"/>
                <a:ea typeface="Arial" pitchFamily="34" charset="-122"/>
                <a:cs typeface="Arial" pitchFamily="34" charset="-120"/>
              </a:rPr>
              <a:t>Derechos, accesibilidad</a:t>
            </a:r>
            <a:endParaRPr lang="en-US" sz="3400" dirty="0"/>
          </a:p>
          <a:p>
            <a:pPr marL="0" indent="0">
              <a:lnSpc>
                <a:spcPct val="95000"/>
              </a:lnSpc>
              <a:buNone/>
            </a:pPr>
            <a:r>
              <a:rPr lang="en-US" sz="3400" b="1" kern="0" spc="-150" dirty="0">
                <a:solidFill>
                  <a:srgbClr val="AD5500"/>
                </a:solidFill>
                <a:latin typeface="Arial" pitchFamily="34" charset="0"/>
                <a:ea typeface="Arial" pitchFamily="34" charset="-122"/>
                <a:cs typeface="Arial" pitchFamily="34" charset="-120"/>
              </a:rPr>
              <a:t>y género en cada pantalla</a:t>
            </a:r>
            <a:endParaRPr lang="en-US" sz="3400" dirty="0"/>
          </a:p>
        </p:txBody>
      </p:sp>
      <p:sp>
        <p:nvSpPr>
          <p:cNvPr id="17" name="lead"/>
          <p:cNvSpPr txBox="1"/>
          <p:nvPr/>
        </p:nvSpPr>
        <p:spPr>
          <a:xfrm>
            <a:off x="643738" y="2455164"/>
            <a:ext cx="5757062" cy="508406"/>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No es un módulo separado: es el criterio de aceptación de cada pantalla de la plataforma.</a:t>
            </a:r>
            <a:endParaRPr lang="en-US" sz="1350" dirty="0"/>
          </a:p>
        </p:txBody>
      </p:sp>
      <p:sp>
        <p:nvSpPr>
          <p:cNvPr id="18" name="f0-line"/>
          <p:cNvSpPr/>
          <p:nvPr/>
        </p:nvSpPr>
        <p:spPr>
          <a:xfrm>
            <a:off x="643738" y="3065069"/>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166567"/>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149194"/>
            <a:ext cx="5122469" cy="830275"/>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Accesibilidad</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Norma internacional de accesibilidad: contraste suficiente, lectores de pantalla, texto ampliable y ninguna animación sin consentimiento. Pruebas con jóvenes y personas con discapacidad en cada ronda.</a:t>
            </a:r>
            <a:endParaRPr lang="en-US" sz="1200" dirty="0"/>
          </a:p>
        </p:txBody>
      </p:sp>
      <p:sp>
        <p:nvSpPr>
          <p:cNvPr id="21" name="f1-line"/>
          <p:cNvSpPr/>
          <p:nvPr/>
        </p:nvSpPr>
        <p:spPr>
          <a:xfrm>
            <a:off x="643738" y="3980383"/>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81882"/>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64508"/>
            <a:ext cx="5122469" cy="830275"/>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Inclusión de género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Responde con datos cuántas mujeres jóvenes usan la herramienta, cómo acceden y cómo la usan. Indicadores siempre agregados, nunca por persona. Protocolo para situaciones de acoso.</a:t>
            </a:r>
            <a:endParaRPr lang="en-US" sz="1200" dirty="0"/>
          </a:p>
        </p:txBody>
      </p:sp>
      <p:sp>
        <p:nvSpPr>
          <p:cNvPr id="24" name="value-icon"/>
          <p:cNvSpPr txBox="1"/>
          <p:nvPr/>
        </p:nvSpPr>
        <p:spPr>
          <a:xfrm>
            <a:off x="643738" y="4963363"/>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963363"/>
            <a:ext cx="5257800" cy="597103"/>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Protección de datos de menores: consentimiento en lenguaje claro con vía del tutor, nunca se guarda la ubicación en tiempo real, derecho a borrar la cuenta y cumplimiento de la Ley 172-13.</a:t>
            </a:r>
            <a:endParaRPr lang="en-US" sz="1050" dirty="0"/>
          </a:p>
        </p:txBody>
      </p:sp>
      <p:sp>
        <p:nvSpPr>
          <p:cNvPr id="26" name="contribution"/>
          <p:cNvSpPr txBox="1"/>
          <p:nvPr/>
        </p:nvSpPr>
        <p:spPr>
          <a:xfrm>
            <a:off x="643738" y="5645506"/>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A3.5 Usabilidad, accesibilidad e inclusión / Derechos humanos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14 / 19</a:t>
            </a:r>
            <a:endParaRPr lang="en-US" sz="800" dirty="0"/>
          </a:p>
        </p:txBody>
      </p:sp>
      <p:sp>
        <p:nvSpPr>
          <p:cNvPr id="11" name="bg-timeline"/>
          <p:cNvSpPr/>
          <p:nvPr/>
        </p:nvSpPr>
        <p:spPr>
          <a:xfrm>
            <a:off x="0" y="6307531"/>
            <a:ext cx="8983066"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TRANSVERSAL / NO DEJAR A NADIE ATRÁS</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No asumimos</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que todos tengan teléfono</a:t>
            </a:r>
            <a:endParaRPr lang="en-US" sz="3800" dirty="0"/>
          </a:p>
        </p:txBody>
      </p:sp>
      <p:sp>
        <p:nvSpPr>
          <p:cNvPr id="17" name="lead"/>
          <p:cNvSpPr txBox="1"/>
          <p:nvPr/>
        </p:nvSpPr>
        <p:spPr>
          <a:xfrm>
            <a:off x="643738" y="2540203"/>
            <a:ext cx="5757062" cy="405994"/>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No se asume que cada estudiante tenga un teléfono con datos. La plataforma entra por tres niveles.</a:t>
            </a:r>
            <a:endParaRPr lang="en-US" sz="1350" dirty="0"/>
          </a:p>
        </p:txBody>
      </p:sp>
      <p:sp>
        <p:nvSpPr>
          <p:cNvPr id="18" name="f0-line"/>
          <p:cNvSpPr/>
          <p:nvPr/>
        </p:nvSpPr>
        <p:spPr>
          <a:xfrm>
            <a:off x="643738" y="3047695"/>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149194"/>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132734"/>
            <a:ext cx="5122469" cy="830275"/>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Web y tableta del liceo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La versión web abre en cualquier celular prestado, sin instalar nada. Un punto de registro y consulta en la entrada de cada liceo, donde el estudiante pasa su carnet del MINERD y registra su trayecto en dos toques.</a:t>
            </a:r>
            <a:endParaRPr lang="en-US" sz="1200" dirty="0"/>
          </a:p>
        </p:txBody>
      </p:sp>
      <p:sp>
        <p:nvSpPr>
          <p:cNvPr id="21" name="f1-line"/>
          <p:cNvSpPr/>
          <p:nvPr/>
        </p:nvSpPr>
        <p:spPr>
          <a:xfrm>
            <a:off x="643738" y="3963010"/>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064508"/>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048049"/>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Mapas impresos</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Rutas seguras por centro, generadas desde la misma información. Costo casi nulo y evidencia física del proyecto.</a:t>
            </a:r>
            <a:endParaRPr lang="en-US" sz="1200" dirty="0"/>
          </a:p>
        </p:txBody>
      </p:sp>
      <p:sp>
        <p:nvSpPr>
          <p:cNvPr id="24" name="value-icon"/>
          <p:cNvSpPr txBox="1"/>
          <p:nvPr/>
        </p:nvSpPr>
        <p:spPr>
          <a:xfrm>
            <a:off x="643738" y="4772254"/>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772254"/>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Cada registro guarda por dónde entró, así que la brecha digital deja de ser un supuesto y pasa a ser un indicador que el proyecto puede reportar.</a:t>
            </a:r>
            <a:endParaRPr lang="en-US" sz="1050" dirty="0"/>
          </a:p>
        </p:txBody>
      </p:sp>
      <p:sp>
        <p:nvSpPr>
          <p:cNvPr id="26" name="contribution"/>
          <p:cNvSpPr txBox="1"/>
          <p:nvPr/>
        </p:nvSpPr>
        <p:spPr>
          <a:xfrm>
            <a:off x="643738" y="5272430"/>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A3.5 Inclusión / A3.1 Línea base</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15 / 19</a:t>
            </a:r>
            <a:endParaRPr lang="en-US" sz="800" dirty="0"/>
          </a:p>
        </p:txBody>
      </p:sp>
      <p:sp>
        <p:nvSpPr>
          <p:cNvPr id="11" name="bg-timeline"/>
          <p:cNvSpPr/>
          <p:nvPr/>
        </p:nvSpPr>
        <p:spPr>
          <a:xfrm>
            <a:off x="0" y="6307531"/>
            <a:ext cx="9624974"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HERRAMIENTA DE GESTIÓN</a:t>
            </a:r>
            <a:endParaRPr lang="en-US" sz="850" dirty="0"/>
          </a:p>
        </p:txBody>
      </p:sp>
      <p:sp>
        <p:nvSpPr>
          <p:cNvPr id="16" name="title"/>
          <p:cNvSpPr txBox="1"/>
          <p:nvPr/>
        </p:nvSpPr>
        <p:spPr>
          <a:xfrm>
            <a:off x="643738" y="1337767"/>
            <a:ext cx="6265469" cy="1097280"/>
          </a:xfrm>
          <a:prstGeom prst="rect">
            <a:avLst/>
          </a:prstGeom>
          <a:noFill/>
          <a:ln/>
        </p:spPr>
        <p:txBody>
          <a:bodyPr wrap="square" lIns="0" tIns="0" rIns="0" bIns="0" rtlCol="0" anchor="t"/>
          <a:lstStyle/>
          <a:p>
            <a:pPr marL="0" indent="0">
              <a:lnSpc>
                <a:spcPct val="95000"/>
              </a:lnSpc>
              <a:buNone/>
            </a:pPr>
            <a:r>
              <a:rPr lang="en-US" sz="3800" b="1" kern="0" spc="-150" dirty="0">
                <a:solidFill>
                  <a:srgbClr val="282828"/>
                </a:solidFill>
                <a:latin typeface="Arial" pitchFamily="34" charset="0"/>
                <a:ea typeface="Arial" pitchFamily="34" charset="-122"/>
                <a:cs typeface="Arial" pitchFamily="34" charset="-120"/>
              </a:rPr>
              <a:t>Los indicadores,</a:t>
            </a:r>
            <a:endParaRPr lang="en-US" sz="3800" dirty="0"/>
          </a:p>
          <a:p>
            <a:pPr marL="0" indent="0">
              <a:lnSpc>
                <a:spcPct val="95000"/>
              </a:lnSpc>
              <a:buNone/>
            </a:pPr>
            <a:r>
              <a:rPr lang="en-US" sz="3800" b="1" kern="0" spc="-150" dirty="0">
                <a:solidFill>
                  <a:srgbClr val="AD5500"/>
                </a:solidFill>
                <a:latin typeface="Arial" pitchFamily="34" charset="0"/>
                <a:ea typeface="Arial" pitchFamily="34" charset="-122"/>
                <a:cs typeface="Arial" pitchFamily="34" charset="-120"/>
              </a:rPr>
              <a:t>listos para el informe</a:t>
            </a:r>
            <a:endParaRPr lang="en-US" sz="3800" dirty="0"/>
          </a:p>
        </p:txBody>
      </p:sp>
      <p:sp>
        <p:nvSpPr>
          <p:cNvPr id="17" name="lead"/>
          <p:cNvSpPr txBox="1"/>
          <p:nvPr/>
        </p:nvSpPr>
        <p:spPr>
          <a:xfrm>
            <a:off x="643738" y="2540203"/>
            <a:ext cx="5757062" cy="405994"/>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Todo lo que se captura llega a un panel web donde Entrena y las instituciones ven, filtran y exportan.</a:t>
            </a:r>
            <a:endParaRPr lang="en-US" sz="1350" dirty="0"/>
          </a:p>
        </p:txBody>
      </p:sp>
      <p:sp>
        <p:nvSpPr>
          <p:cNvPr id="18" name="f0-line"/>
          <p:cNvSpPr/>
          <p:nvPr/>
        </p:nvSpPr>
        <p:spPr>
          <a:xfrm>
            <a:off x="643738" y="3047695"/>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149194"/>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132734"/>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Indicadores por liceo y comunidad</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Trayectos, modos, reportes y uso de la app, desagregados por género, edad y discapacidad.</a:t>
            </a:r>
            <a:endParaRPr lang="en-US" sz="1200" dirty="0"/>
          </a:p>
        </p:txBody>
      </p:sp>
      <p:sp>
        <p:nvSpPr>
          <p:cNvPr id="21" name="f1-line"/>
          <p:cNvSpPr/>
          <p:nvPr/>
        </p:nvSpPr>
        <p:spPr>
          <a:xfrm>
            <a:off x="643738" y="3789274"/>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3890772"/>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3874313"/>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Gestión de contenido</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Recomendaciones, preguntas de los retos, alertas y encuestas se editan aquí, sin programar.</a:t>
            </a:r>
            <a:endParaRPr lang="en-US" sz="1200" dirty="0"/>
          </a:p>
        </p:txBody>
      </p:sp>
      <p:sp>
        <p:nvSpPr>
          <p:cNvPr id="24" name="value-icon"/>
          <p:cNvSpPr txBox="1"/>
          <p:nvPr/>
        </p:nvSpPr>
        <p:spPr>
          <a:xfrm>
            <a:off x="643738" y="4599432"/>
            <a:ext cx="202997" cy="202997"/>
          </a:xfrm>
          <a:prstGeom prst="rect">
            <a:avLst/>
          </a:prstGeom>
          <a:noFill/>
          <a:ln/>
        </p:spPr>
        <p:txBody>
          <a:bodyPr wrap="square" lIns="0" tIns="0" rIns="0" bIns="0" rtlCol="0" anchor="ctr"/>
          <a:lstStyle/>
          <a:p>
            <a:pPr marL="0" indent="0">
              <a:buNone/>
            </a:pPr>
            <a:r>
              <a:rPr lang="en-US" sz="1400" dirty="0">
                <a:solidFill>
                  <a:srgbClr val="AA5300"/>
                </a:solidFill>
                <a:latin typeface="Arial" pitchFamily="34" charset="0"/>
                <a:ea typeface="Arial" pitchFamily="34" charset="-122"/>
                <a:cs typeface="Arial" pitchFamily="34" charset="-120"/>
              </a:rPr>
              <a:t>↗</a:t>
            </a:r>
            <a:endParaRPr lang="en-US" sz="1400" dirty="0"/>
          </a:p>
        </p:txBody>
      </p:sp>
      <p:sp>
        <p:nvSpPr>
          <p:cNvPr id="25" name="value"/>
          <p:cNvSpPr txBox="1"/>
          <p:nvPr/>
        </p:nvSpPr>
        <p:spPr>
          <a:xfrm>
            <a:off x="930859" y="4599432"/>
            <a:ext cx="5257800" cy="415138"/>
          </a:xfrm>
          <a:prstGeom prst="rect">
            <a:avLst/>
          </a:prstGeom>
          <a:noFill/>
          <a:ln/>
        </p:spPr>
        <p:txBody>
          <a:bodyPr wrap="square" lIns="0" tIns="0" rIns="0" bIns="0" rtlCol="0" anchor="t"/>
          <a:lstStyle/>
          <a:p>
            <a:pPr marL="0" indent="0">
              <a:lnSpc>
                <a:spcPct val="115000"/>
              </a:lnSpc>
              <a:buNone/>
            </a:pPr>
            <a:r>
              <a:rPr lang="en-US" sz="1050" dirty="0">
                <a:solidFill>
                  <a:srgbClr val="282828"/>
                </a:solidFill>
                <a:latin typeface="Arial" pitchFamily="34" charset="0"/>
                <a:ea typeface="Arial" pitchFamily="34" charset="-122"/>
                <a:cs typeface="Arial" pitchFamily="34" charset="-120"/>
              </a:rPr>
              <a:t>La evidencia que la Unión Europea pide sale exportada del panel, sin recolectar encuestas en papel.</a:t>
            </a:r>
            <a:endParaRPr lang="en-US" sz="1050" dirty="0"/>
          </a:p>
        </p:txBody>
      </p:sp>
      <p:sp>
        <p:nvSpPr>
          <p:cNvPr id="26" name="contribution"/>
          <p:cNvSpPr txBox="1"/>
          <p:nvPr/>
        </p:nvSpPr>
        <p:spPr>
          <a:xfrm>
            <a:off x="643738" y="5098694"/>
            <a:ext cx="5926226" cy="169164"/>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A3.6 Implementación y mejora / A3.1 Línea base</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78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8720633" y="677570"/>
            <a:ext cx="5672938" cy="5672938"/>
          </a:xfrm>
          <a:prstGeom prst="ellipse">
            <a:avLst/>
          </a:prstGeom>
          <a:solidFill>
            <a:srgbClr val="F6E4CA">
              <a:alpha val="40000"/>
            </a:srgbClr>
          </a:solidFill>
          <a:ln w="12700">
            <a:solidFill>
              <a:srgbClr val="F6E4CA">
                <a:alpha val="0"/>
              </a:srgbClr>
            </a:solidFill>
            <a:prstDash val="solid"/>
          </a:ln>
        </p:spPr>
        <p:txBody>
          <a:bodyPr/>
          <a:lstStyle/>
          <a:p>
            <a:endParaRPr lang="en-US"/>
          </a:p>
        </p:txBody>
      </p:sp>
      <p:sp>
        <p:nvSpPr>
          <p:cNvPr id="3" name="bg-ring1"/>
          <p:cNvSpPr/>
          <p:nvPr/>
        </p:nvSpPr>
        <p:spPr>
          <a:xfrm>
            <a:off x="9144000"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9651492"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17 / 19</a:t>
            </a:r>
            <a:endParaRPr lang="en-US" sz="800" dirty="0"/>
          </a:p>
        </p:txBody>
      </p:sp>
      <p:sp>
        <p:nvSpPr>
          <p:cNvPr id="11" name="bg-timeline"/>
          <p:cNvSpPr/>
          <p:nvPr/>
        </p:nvSpPr>
        <p:spPr>
          <a:xfrm>
            <a:off x="0" y="6307531"/>
            <a:ext cx="10908792" cy="0"/>
          </a:xfrm>
          <a:prstGeom prst="line">
            <a:avLst/>
          </a:prstGeom>
          <a:noFill/>
          <a:ln w="19050">
            <a:solidFill>
              <a:srgbClr val="F68C12"/>
            </a:solidFill>
            <a:prstDash val="solid"/>
          </a:ln>
        </p:spPr>
        <p:txBody>
          <a:bodyPr/>
          <a:lstStyle/>
          <a:p>
            <a:endParaRPr lang="en-US"/>
          </a:p>
        </p:txBody>
      </p:sp>
      <p:sp>
        <p:nvSpPr>
          <p:cNvPr id="12" name="eyebrow-line"/>
          <p:cNvSpPr/>
          <p:nvPr/>
        </p:nvSpPr>
        <p:spPr>
          <a:xfrm>
            <a:off x="643738" y="1067105"/>
            <a:ext cx="236830" cy="0"/>
          </a:xfrm>
          <a:prstGeom prst="line">
            <a:avLst/>
          </a:prstGeom>
          <a:noFill/>
          <a:ln w="19050">
            <a:solidFill>
              <a:srgbClr val="F68C12"/>
            </a:solidFill>
            <a:prstDash val="solid"/>
          </a:ln>
        </p:spPr>
        <p:txBody>
          <a:bodyPr/>
          <a:lstStyle/>
          <a:p>
            <a:endParaRPr lang="en-US"/>
          </a:p>
        </p:txBody>
      </p:sp>
      <p:sp>
        <p:nvSpPr>
          <p:cNvPr id="13" name="eyebrow"/>
          <p:cNvSpPr txBox="1"/>
          <p:nvPr/>
        </p:nvSpPr>
        <p:spPr>
          <a:xfrm>
            <a:off x="982066" y="965606"/>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CÓMO ENCAJA EN EL PRODUCTO 3.1</a:t>
            </a:r>
            <a:endParaRPr lang="en-US" sz="850" dirty="0"/>
          </a:p>
        </p:txBody>
      </p:sp>
      <p:sp>
        <p:nvSpPr>
          <p:cNvPr id="14" name="title"/>
          <p:cNvSpPr txBox="1"/>
          <p:nvPr/>
        </p:nvSpPr>
        <p:spPr>
          <a:xfrm>
            <a:off x="643738" y="1236269"/>
            <a:ext cx="10159898" cy="511150"/>
          </a:xfrm>
          <a:prstGeom prst="rect">
            <a:avLst/>
          </a:prstGeom>
          <a:noFill/>
          <a:ln/>
        </p:spPr>
        <p:txBody>
          <a:bodyPr wrap="square" lIns="0" tIns="0" rIns="0" bIns="0" rtlCol="0" anchor="t"/>
          <a:lstStyle/>
          <a:p>
            <a:pPr marL="0" indent="0">
              <a:lnSpc>
                <a:spcPct val="95000"/>
              </a:lnSpc>
              <a:buNone/>
            </a:pPr>
            <a:r>
              <a:rPr lang="en-US" sz="3200" b="1" kern="0" spc="-150" dirty="0">
                <a:solidFill>
                  <a:srgbClr val="282828"/>
                </a:solidFill>
                <a:latin typeface="Arial" pitchFamily="34" charset="0"/>
                <a:ea typeface="Arial" pitchFamily="34" charset="-122"/>
                <a:cs typeface="Arial" pitchFamily="34" charset="-120"/>
              </a:rPr>
              <a:t>Cada actividad tiene </a:t>
            </a:r>
            <a:r>
              <a:rPr lang="en-US" sz="3200" b="1" kern="0" spc="-150" dirty="0">
                <a:solidFill>
                  <a:srgbClr val="AD5500"/>
                </a:solidFill>
                <a:latin typeface="Arial" pitchFamily="34" charset="0"/>
                <a:ea typeface="Arial" pitchFamily="34" charset="-122"/>
                <a:cs typeface="Arial" pitchFamily="34" charset="-120"/>
              </a:rPr>
              <a:t>módulos que la responden</a:t>
            </a:r>
            <a:endParaRPr lang="en-US" sz="3200" dirty="0"/>
          </a:p>
        </p:txBody>
      </p:sp>
      <p:sp>
        <p:nvSpPr>
          <p:cNvPr id="15" name="lead"/>
          <p:cNvSpPr txBox="1"/>
          <p:nvPr/>
        </p:nvSpPr>
        <p:spPr>
          <a:xfrm>
            <a:off x="643738" y="1845259"/>
            <a:ext cx="8466430" cy="254203"/>
          </a:xfrm>
          <a:prstGeom prst="rect">
            <a:avLst/>
          </a:prstGeom>
          <a:noFill/>
          <a:ln/>
        </p:spPr>
        <p:txBody>
          <a:bodyPr wrap="square" lIns="0" tIns="0" rIns="0" bIns="0" rtlCol="0" anchor="t"/>
          <a:lstStyle/>
          <a:p>
            <a:pPr marL="0" indent="0">
              <a:lnSpc>
                <a:spcPct val="115000"/>
              </a:lnSpc>
              <a:buNone/>
            </a:pPr>
            <a:r>
              <a:rPr lang="en-US" sz="1250" dirty="0">
                <a:solidFill>
                  <a:srgbClr val="514B46"/>
                </a:solidFill>
                <a:latin typeface="Arial" pitchFamily="34" charset="0"/>
                <a:ea typeface="Arial" pitchFamily="34" charset="-122"/>
                <a:cs typeface="Arial" pitchFamily="34" charset="-120"/>
              </a:rPr>
              <a:t>La conexión entre la descripción de módulos y las actividades del formulario de la Unión Europea.</a:t>
            </a:r>
            <a:endParaRPr lang="en-US" sz="1250" dirty="0"/>
          </a:p>
        </p:txBody>
      </p:sp>
      <p:graphicFrame>
        <p:nvGraphicFramePr>
          <p:cNvPr id="18" name="matrix"/>
          <p:cNvGraphicFramePr>
            <a:graphicFrameLocks noGrp="1"/>
          </p:cNvGraphicFramePr>
          <p:nvPr>
            <p:extLst>
              <p:ext uri="{D42A27DB-BD31-4B8C-83A1-F6EECF244321}">
                <p14:modId xmlns:p14="http://schemas.microsoft.com/office/powerpoint/2010/main" val="1579011935"/>
              </p:ext>
            </p:extLst>
          </p:nvPr>
        </p:nvGraphicFramePr>
        <p:xfrm>
          <a:off x="643738" y="2286000"/>
          <a:ext cx="10921593" cy="2963569"/>
        </p:xfrm>
        <a:graphic>
          <a:graphicData uri="http://schemas.openxmlformats.org/drawingml/2006/table">
            <a:tbl>
              <a:tblPr/>
              <a:tblGrid>
                <a:gridCol w="1015898">
                  <a:extLst>
                    <a:ext uri="{9D8B030D-6E8A-4147-A177-3AD203B41FA5}">
                      <a16:colId xmlns:a16="http://schemas.microsoft.com/office/drawing/2014/main" val="20000"/>
                    </a:ext>
                  </a:extLst>
                </a:gridCol>
                <a:gridCol w="5249570">
                  <a:extLst>
                    <a:ext uri="{9D8B030D-6E8A-4147-A177-3AD203B41FA5}">
                      <a16:colId xmlns:a16="http://schemas.microsoft.com/office/drawing/2014/main" val="20001"/>
                    </a:ext>
                  </a:extLst>
                </a:gridCol>
                <a:gridCol w="4656125">
                  <a:extLst>
                    <a:ext uri="{9D8B030D-6E8A-4147-A177-3AD203B41FA5}">
                      <a16:colId xmlns:a16="http://schemas.microsoft.com/office/drawing/2014/main" val="20002"/>
                    </a:ext>
                  </a:extLst>
                </a:gridCol>
              </a:tblGrid>
              <a:tr h="423367">
                <a:tc>
                  <a:txBody>
                    <a:bodyPr/>
                    <a:lstStyle/>
                    <a:p>
                      <a:pPr marL="0" indent="0">
                        <a:buNone/>
                      </a:pPr>
                      <a:r>
                        <a:rPr lang="en-US" sz="750" b="1" kern="0" spc="150" dirty="0">
                          <a:solidFill>
                            <a:srgbClr val="655B54"/>
                          </a:solidFill>
                          <a:latin typeface="Arial" pitchFamily="34" charset="0"/>
                          <a:ea typeface="Arial" pitchFamily="34" charset="-122"/>
                          <a:cs typeface="Arial" pitchFamily="34" charset="-120"/>
                        </a:rPr>
                        <a:t>ACTIVIDAD</a:t>
                      </a:r>
                      <a:endParaRPr lang="en-US" sz="750" dirty="0">
                        <a:latin typeface="Arial" charset="0"/>
                        <a:ea typeface="Arial" charset="0"/>
                        <a:cs typeface="Arial" charset="0"/>
                      </a:endParaRPr>
                    </a:p>
                  </a:txBody>
                  <a:tcPr marL="0" marR="101600" marT="50800" marB="50800" anchor="ctr">
                    <a:lnL w="0" cap="flat" cmpd="sng" algn="ctr">
                      <a:noFill/>
                    </a:lnL>
                    <a:lnR w="0" cap="flat" cmpd="sng" algn="ctr">
                      <a:noFill/>
                    </a:lnR>
                    <a:lnT w="0" cap="flat" cmpd="sng" algn="ctr">
                      <a:noFill/>
                    </a:lnT>
                    <a:lnB w="9525"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750" b="1" kern="0" spc="150" dirty="0">
                          <a:solidFill>
                            <a:srgbClr val="655B54"/>
                          </a:solidFill>
                          <a:latin typeface="Arial" pitchFamily="34" charset="0"/>
                          <a:ea typeface="Arial" pitchFamily="34" charset="-122"/>
                          <a:cs typeface="Arial" pitchFamily="34" charset="-120"/>
                        </a:rPr>
                        <a:t>QUÉ PIDE</a:t>
                      </a:r>
                      <a:endParaRPr lang="en-US" sz="750" dirty="0">
                        <a:latin typeface="Arial" charset="0"/>
                        <a:ea typeface="Arial" charset="0"/>
                        <a:cs typeface="Arial" charset="0"/>
                      </a:endParaRPr>
                    </a:p>
                  </a:txBody>
                  <a:tcPr marL="0" marR="101600" marT="50800" marB="50800" anchor="ctr">
                    <a:lnL w="0" cap="flat" cmpd="sng" algn="ctr">
                      <a:noFill/>
                    </a:lnL>
                    <a:lnR w="0" cap="flat" cmpd="sng" algn="ctr">
                      <a:noFill/>
                    </a:lnR>
                    <a:lnT w="0" cap="flat" cmpd="sng" algn="ctr">
                      <a:noFill/>
                    </a:lnT>
                    <a:lnB w="9525"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750" b="1" kern="0" spc="150" dirty="0">
                          <a:solidFill>
                            <a:srgbClr val="655B54"/>
                          </a:solidFill>
                          <a:latin typeface="Arial" pitchFamily="34" charset="0"/>
                          <a:ea typeface="Arial" pitchFamily="34" charset="-122"/>
                          <a:cs typeface="Arial" pitchFamily="34" charset="-120"/>
                        </a:rPr>
                        <a:t>MÓDULOS QUE RESPONDEN</a:t>
                      </a:r>
                      <a:endParaRPr lang="en-US" sz="750" dirty="0">
                        <a:latin typeface="Arial" charset="0"/>
                        <a:ea typeface="Arial" charset="0"/>
                        <a:cs typeface="Arial" charset="0"/>
                      </a:endParaRPr>
                    </a:p>
                  </a:txBody>
                  <a:tcPr marL="0" marR="101600" marT="50800" marB="50800" anchor="ctr">
                    <a:lnL w="0" cap="flat" cmpd="sng" algn="ctr">
                      <a:noFill/>
                    </a:lnL>
                    <a:lnR w="0" cap="flat" cmpd="sng" algn="ctr">
                      <a:noFill/>
                    </a:lnR>
                    <a:lnT w="0" cap="flat" cmpd="sng" algn="ctr">
                      <a:noFill/>
                    </a:lnT>
                    <a:lnB w="9525"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A3.1</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9525"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Proceso participativo de identificación de necesidades</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9525"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01 Bitácora · 04 Bienvenida</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9525"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A3.2</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Arquitectura funcional y tecnológica</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Base de datos, formato abierto, roles, privacidad y accesibilidad como criterio</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A3.3</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Desarrollo con INTRANT, OPRET y MINERD</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03 Mapa · 06 Rutas · carnet estudiantil y los 40 liceos</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A3.4</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Rutas, transporte colectivo, cruces seguros, puntos de interés, alertas y recomendaciones</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03 Mapa · 06 Rutas · 07 Alertas</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A3.5</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Pruebas de usabilidad y accesibilidad con jóvenes y personas con discapacidad</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05 Perfil · 04 Bienvenida · toda pantalla</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423367">
                <a:tc>
                  <a:txBody>
                    <a:bodyPr/>
                    <a:lstStyle/>
                    <a:p>
                      <a:pPr marL="0" indent="0">
                        <a:buNone/>
                      </a:pPr>
                      <a:r>
                        <a:rPr lang="en-US" sz="1050" b="1" dirty="0">
                          <a:solidFill>
                            <a:srgbClr val="AD5500"/>
                          </a:solidFill>
                          <a:latin typeface="Arial" pitchFamily="34" charset="0"/>
                          <a:ea typeface="Arial" pitchFamily="34" charset="-122"/>
                          <a:cs typeface="Arial" pitchFamily="34" charset="-120"/>
                        </a:rPr>
                        <a:t>A3.6</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4D4640"/>
                          </a:solidFill>
                          <a:latin typeface="Arial" pitchFamily="34" charset="0"/>
                          <a:ea typeface="Arial" pitchFamily="34" charset="-122"/>
                          <a:cs typeface="Arial" pitchFamily="34" charset="-120"/>
                        </a:rPr>
                        <a:t>Implementar, promover y mejorar progresivamente</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tc>
                  <a:txBody>
                    <a:bodyPr/>
                    <a:lstStyle/>
                    <a:p>
                      <a:pPr marL="0" indent="0">
                        <a:buNone/>
                      </a:pPr>
                      <a:r>
                        <a:rPr lang="en-US" sz="1050" dirty="0">
                          <a:solidFill>
                            <a:srgbClr val="282828"/>
                          </a:solidFill>
                          <a:latin typeface="Arial" pitchFamily="34" charset="0"/>
                          <a:ea typeface="Arial" pitchFamily="34" charset="-122"/>
                          <a:cs typeface="Arial" pitchFamily="34" charset="-120"/>
                        </a:rPr>
                        <a:t>01 Bitácora · 02 Monitoreo · 07 Alertas · 08 Educación</a:t>
                      </a:r>
                      <a:endParaRPr lang="en-US" sz="1050" dirty="0">
                        <a:latin typeface="Arial" charset="0"/>
                        <a:ea typeface="Arial" charset="0"/>
                        <a:cs typeface="Arial" charset="0"/>
                      </a:endParaRPr>
                    </a:p>
                  </a:txBody>
                  <a:tcPr marL="0" marR="101600" marT="50800" marB="50800" anchor="ctr">
                    <a:lnL w="0" cap="flat" cmpd="sng" algn="ctr">
                      <a:noFill/>
                    </a:lnL>
                    <a:lnR w="0" cap="flat" cmpd="sng" algn="ctr">
                      <a:noFill/>
                    </a:lnR>
                    <a:lnT w="6350" cap="flat" cmpd="sng" algn="ctr">
                      <a:solidFill>
                        <a:srgbClr val="D9D5CF"/>
                      </a:solidFill>
                      <a:prstDash val="solid"/>
                      <a:round/>
                      <a:headEnd type="none" w="med" len="med"/>
                      <a:tailEnd type="none" w="med" len="med"/>
                    </a:lnT>
                    <a:lnB w="6350" cap="flat" cmpd="sng" algn="ctr">
                      <a:solidFill>
                        <a:srgbClr val="D9D5CF"/>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39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bg-orb"/>
          <p:cNvSpPr/>
          <p:nvPr/>
        </p:nvSpPr>
        <p:spPr>
          <a:xfrm>
            <a:off x="7154266" y="677570"/>
            <a:ext cx="5672938" cy="5672938"/>
          </a:xfrm>
          <a:prstGeom prst="ellipse">
            <a:avLst/>
          </a:prstGeom>
          <a:solidFill>
            <a:srgbClr val="F6E4CA"/>
          </a:solidFill>
          <a:ln w="12700">
            <a:solidFill>
              <a:srgbClr val="F6E4CA">
                <a:alpha val="0"/>
              </a:srgbClr>
            </a:solidFill>
            <a:prstDash val="solid"/>
          </a:ln>
        </p:spPr>
        <p:txBody>
          <a:bodyPr/>
          <a:lstStyle/>
          <a:p>
            <a:endParaRPr lang="en-US"/>
          </a:p>
        </p:txBody>
      </p:sp>
      <p:sp>
        <p:nvSpPr>
          <p:cNvPr id="3" name="bg-ring1"/>
          <p:cNvSpPr/>
          <p:nvPr/>
        </p:nvSpPr>
        <p:spPr>
          <a:xfrm>
            <a:off x="7577633" y="1100938"/>
            <a:ext cx="4826203" cy="4826203"/>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4" name="bg-ring2"/>
          <p:cNvSpPr/>
          <p:nvPr/>
        </p:nvSpPr>
        <p:spPr>
          <a:xfrm>
            <a:off x="8085125" y="1608430"/>
            <a:ext cx="3810305" cy="3810305"/>
          </a:xfrm>
          <a:prstGeom prst="ellipse">
            <a:avLst/>
          </a:prstGeom>
          <a:solidFill>
            <a:srgbClr val="F6E4CA">
              <a:alpha val="0"/>
            </a:srgbClr>
          </a:solidFill>
          <a:ln w="9525">
            <a:solidFill>
              <a:srgbClr val="C78B41">
                <a:alpha val="35000"/>
              </a:srgbClr>
            </a:solidFill>
            <a:prstDash val="solid"/>
          </a:ln>
        </p:spPr>
        <p:txBody>
          <a:bodyPr/>
          <a:lstStyle/>
          <a:p>
            <a:endParaRPr lang="en-US"/>
          </a:p>
        </p:txBody>
      </p:sp>
      <p:sp>
        <p:nvSpPr>
          <p:cNvPr id="5" name="bg-logo"/>
          <p:cNvSpPr/>
          <p:nvPr/>
        </p:nvSpPr>
        <p:spPr>
          <a:xfrm>
            <a:off x="558698" y="270662"/>
            <a:ext cx="288036" cy="288036"/>
          </a:xfrm>
          <a:prstGeom prst="roundRect">
            <a:avLst>
              <a:gd name="adj" fmla="val 25397"/>
            </a:avLst>
          </a:prstGeom>
          <a:solidFill>
            <a:srgbClr val="F68C12"/>
          </a:solidFill>
          <a:ln w="12700">
            <a:solidFill>
              <a:srgbClr val="F68C12"/>
            </a:solidFill>
            <a:prstDash val="solid"/>
          </a:ln>
        </p:spPr>
        <p:txBody>
          <a:bodyPr/>
          <a:lstStyle/>
          <a:p>
            <a:endParaRPr lang="en-US"/>
          </a:p>
        </p:txBody>
      </p:sp>
      <p:sp>
        <p:nvSpPr>
          <p:cNvPr id="6" name="bg-logo-t"/>
          <p:cNvSpPr txBox="1"/>
          <p:nvPr/>
        </p:nvSpPr>
        <p:spPr>
          <a:xfrm>
            <a:off x="558698" y="270662"/>
            <a:ext cx="288036" cy="288036"/>
          </a:xfrm>
          <a:prstGeom prst="rect">
            <a:avLst/>
          </a:prstGeom>
          <a:noFill/>
          <a:ln/>
        </p:spPr>
        <p:txBody>
          <a:bodyPr wrap="square" lIns="0" tIns="0" rIns="0" bIns="0" rtlCol="0" anchor="ctr"/>
          <a:lstStyle/>
          <a:p>
            <a:pPr marL="0" indent="0" algn="ctr">
              <a:buNone/>
            </a:pPr>
            <a:r>
              <a:rPr lang="en-US" sz="1400" dirty="0">
                <a:solidFill>
                  <a:srgbClr val="282828"/>
                </a:solidFill>
                <a:latin typeface="Arial" pitchFamily="34" charset="0"/>
                <a:ea typeface="Arial" pitchFamily="34" charset="-122"/>
                <a:cs typeface="Arial" pitchFamily="34" charset="-120"/>
              </a:rPr>
              <a:t>↗</a:t>
            </a:r>
            <a:endParaRPr lang="en-US" sz="1400" dirty="0"/>
          </a:p>
        </p:txBody>
      </p:sp>
      <p:sp>
        <p:nvSpPr>
          <p:cNvPr id="7" name="bg-brand"/>
          <p:cNvSpPr txBox="1"/>
          <p:nvPr/>
        </p:nvSpPr>
        <p:spPr>
          <a:xfrm>
            <a:off x="948233" y="270662"/>
            <a:ext cx="2540203" cy="288036"/>
          </a:xfrm>
          <a:prstGeom prst="rect">
            <a:avLst/>
          </a:prstGeom>
          <a:noFill/>
          <a:ln/>
        </p:spPr>
        <p:txBody>
          <a:bodyPr wrap="square" lIns="0" tIns="0" rIns="0" bIns="0" rtlCol="0" anchor="ctr"/>
          <a:lstStyle/>
          <a:p>
            <a:pPr marL="0" indent="0">
              <a:buNone/>
            </a:pPr>
            <a:r>
              <a:rPr lang="en-US" sz="1250" b="1" dirty="0">
                <a:solidFill>
                  <a:srgbClr val="282828"/>
                </a:solidFill>
                <a:latin typeface="Arial" pitchFamily="34" charset="0"/>
                <a:ea typeface="Arial" pitchFamily="34" charset="-122"/>
                <a:cs typeface="Arial" pitchFamily="34" charset="-120"/>
              </a:rPr>
              <a:t>Transporte Futura</a:t>
            </a:r>
            <a:endParaRPr lang="en-US" sz="1250" dirty="0"/>
          </a:p>
        </p:txBody>
      </p:sp>
      <p:sp>
        <p:nvSpPr>
          <p:cNvPr id="8" name="bg-project"/>
          <p:cNvSpPr txBox="1"/>
          <p:nvPr/>
        </p:nvSpPr>
        <p:spPr>
          <a:xfrm>
            <a:off x="7619695" y="270662"/>
            <a:ext cx="4013302" cy="288036"/>
          </a:xfrm>
          <a:prstGeom prst="rect">
            <a:avLst/>
          </a:prstGeom>
          <a:noFill/>
          <a:ln/>
        </p:spPr>
        <p:txBody>
          <a:bodyPr wrap="square" lIns="0" tIns="0" rIns="0" bIns="0" rtlCol="0" anchor="ctr"/>
          <a:lstStyle/>
          <a:p>
            <a:pPr marL="0" indent="0" algn="r">
              <a:buNone/>
            </a:pPr>
            <a:r>
              <a:rPr lang="en-US" sz="800" kern="0" spc="200" dirty="0">
                <a:solidFill>
                  <a:srgbClr val="655B54"/>
                </a:solidFill>
                <a:latin typeface="Arial" pitchFamily="34" charset="0"/>
                <a:ea typeface="Arial" pitchFamily="34" charset="-122"/>
                <a:cs typeface="Arial" pitchFamily="34" charset="-120"/>
              </a:rPr>
              <a:t>AMPIRICS / GENERACIÓN MÓVIL</a:t>
            </a:r>
            <a:endParaRPr lang="en-US" sz="800" dirty="0"/>
          </a:p>
        </p:txBody>
      </p:sp>
      <p:sp>
        <p:nvSpPr>
          <p:cNvPr id="9" name="bg-foot"/>
          <p:cNvSpPr txBox="1"/>
          <p:nvPr/>
        </p:nvSpPr>
        <p:spPr>
          <a:xfrm>
            <a:off x="304495" y="6502298"/>
            <a:ext cx="1693469" cy="202997"/>
          </a:xfrm>
          <a:prstGeom prst="rect">
            <a:avLst/>
          </a:prstGeom>
          <a:noFill/>
          <a:ln/>
        </p:spPr>
        <p:txBody>
          <a:bodyPr wrap="square" lIns="0" tIns="0" rIns="0" bIns="0" rtlCol="0" anchor="ctr"/>
          <a:lstStyle/>
          <a:p>
            <a:pPr marL="0" indent="0">
              <a:buNone/>
            </a:pPr>
            <a:r>
              <a:rPr lang="en-US" sz="700" kern="0" spc="150" dirty="0">
                <a:solidFill>
                  <a:srgbClr val="655B54"/>
                </a:solidFill>
                <a:latin typeface="Arial" pitchFamily="34" charset="0"/>
                <a:ea typeface="Arial" pitchFamily="34" charset="-122"/>
                <a:cs typeface="Arial" pitchFamily="34" charset="-120"/>
              </a:rPr>
              <a:t>PRODUCTO 3.1</a:t>
            </a:r>
            <a:endParaRPr lang="en-US" sz="700" dirty="0"/>
          </a:p>
        </p:txBody>
      </p:sp>
      <p:sp>
        <p:nvSpPr>
          <p:cNvPr id="10" name="bg-num"/>
          <p:cNvSpPr txBox="1"/>
          <p:nvPr/>
        </p:nvSpPr>
        <p:spPr>
          <a:xfrm>
            <a:off x="10583266" y="6502298"/>
            <a:ext cx="1049731" cy="202997"/>
          </a:xfrm>
          <a:prstGeom prst="rect">
            <a:avLst/>
          </a:prstGeom>
          <a:noFill/>
          <a:ln/>
        </p:spPr>
        <p:txBody>
          <a:bodyPr wrap="square" lIns="0" tIns="0" rIns="0" bIns="0" rtlCol="0" anchor="ctr"/>
          <a:lstStyle/>
          <a:p>
            <a:pPr marL="0" indent="0" algn="r">
              <a:buNone/>
            </a:pPr>
            <a:r>
              <a:rPr lang="en-US" sz="800" dirty="0">
                <a:solidFill>
                  <a:srgbClr val="655B54"/>
                </a:solidFill>
                <a:latin typeface="Arial" pitchFamily="34" charset="0"/>
                <a:ea typeface="Arial" pitchFamily="34" charset="-122"/>
                <a:cs typeface="Arial" pitchFamily="34" charset="-120"/>
              </a:rPr>
              <a:t>19 / 19</a:t>
            </a:r>
            <a:endParaRPr lang="en-US" sz="800" dirty="0"/>
          </a:p>
        </p:txBody>
      </p:sp>
      <p:sp>
        <p:nvSpPr>
          <p:cNvPr id="11" name="bg-timeline"/>
          <p:cNvSpPr/>
          <p:nvPr/>
        </p:nvSpPr>
        <p:spPr>
          <a:xfrm>
            <a:off x="0" y="6307531"/>
            <a:ext cx="12191695" cy="0"/>
          </a:xfrm>
          <a:prstGeom prst="line">
            <a:avLst/>
          </a:prstGeom>
          <a:noFill/>
          <a:ln w="19050">
            <a:solidFill>
              <a:srgbClr val="F68C12"/>
            </a:solidFill>
            <a:prstDash val="solid"/>
          </a:ln>
        </p:spPr>
        <p:txBody>
          <a:bodyPr/>
          <a:lstStyle/>
          <a:p>
            <a:endParaRPr lang="en-US"/>
          </a:p>
        </p:txBody>
      </p:sp>
      <p:sp>
        <p:nvSpPr>
          <p:cNvPr id="12" name="bg-vlabel"/>
          <p:cNvSpPr txBox="1"/>
          <p:nvPr/>
        </p:nvSpPr>
        <p:spPr>
          <a:xfrm rot="5400000">
            <a:off x="10371125" y="2023567"/>
            <a:ext cx="2371039" cy="186538"/>
          </a:xfrm>
          <a:prstGeom prst="rect">
            <a:avLst/>
          </a:prstGeom>
          <a:noFill/>
          <a:ln/>
        </p:spPr>
        <p:txBody>
          <a:bodyPr wrap="square" lIns="0" tIns="0" rIns="0" bIns="0" rtlCol="0" anchor="ctr"/>
          <a:lstStyle/>
          <a:p>
            <a:pPr marL="0" indent="0">
              <a:buNone/>
            </a:pPr>
            <a:r>
              <a:rPr lang="en-US" sz="750" kern="0" spc="200" dirty="0">
                <a:solidFill>
                  <a:srgbClr val="795A36"/>
                </a:solidFill>
                <a:latin typeface="Arial" pitchFamily="34" charset="0"/>
                <a:ea typeface="Arial" pitchFamily="34" charset="-122"/>
                <a:cs typeface="Arial" pitchFamily="34" charset="-120"/>
              </a:rPr>
              <a:t>MOVILIDAD CON INFORMACIÓN</a:t>
            </a:r>
            <a:endParaRPr lang="en-US" sz="750" dirty="0"/>
          </a:p>
        </p:txBody>
      </p:sp>
      <p:pic>
        <p:nvPicPr>
          <p:cNvPr id="13" name="phone" descr="preencoded.png"/>
          <p:cNvPicPr>
            <a:picLocks noChangeAspect="1"/>
          </p:cNvPicPr>
          <p:nvPr/>
        </p:nvPicPr>
        <p:blipFill>
          <a:blip r:embed="rId3"/>
          <a:stretch>
            <a:fillRect/>
          </a:stretch>
        </p:blipFill>
        <p:spPr>
          <a:xfrm>
            <a:off x="8415223" y="906170"/>
            <a:ext cx="2556662" cy="5198364"/>
          </a:xfrm>
          <a:prstGeom prst="rect">
            <a:avLst/>
          </a:prstGeom>
          <a:effectLst>
            <a:outerShdw blurRad="228600" dist="101600" dir="5400000" algn="bl" rotWithShape="0">
              <a:srgbClr val="5E3719">
                <a:alpha val="22000"/>
              </a:srgbClr>
            </a:outerShdw>
          </a:effectLst>
        </p:spPr>
      </p:pic>
      <p:sp>
        <p:nvSpPr>
          <p:cNvPr id="14" name="eyebrow-line"/>
          <p:cNvSpPr/>
          <p:nvPr/>
        </p:nvSpPr>
        <p:spPr>
          <a:xfrm>
            <a:off x="643738" y="1168603"/>
            <a:ext cx="236830" cy="0"/>
          </a:xfrm>
          <a:prstGeom prst="line">
            <a:avLst/>
          </a:prstGeom>
          <a:noFill/>
          <a:ln w="19050">
            <a:solidFill>
              <a:srgbClr val="F68C12"/>
            </a:solidFill>
            <a:prstDash val="solid"/>
          </a:ln>
        </p:spPr>
        <p:txBody>
          <a:bodyPr/>
          <a:lstStyle/>
          <a:p>
            <a:endParaRPr lang="en-US"/>
          </a:p>
        </p:txBody>
      </p:sp>
      <p:sp>
        <p:nvSpPr>
          <p:cNvPr id="15" name="eyebrow"/>
          <p:cNvSpPr txBox="1"/>
          <p:nvPr/>
        </p:nvSpPr>
        <p:spPr>
          <a:xfrm>
            <a:off x="982066" y="1067105"/>
            <a:ext cx="5079492" cy="202997"/>
          </a:xfrm>
          <a:prstGeom prst="rect">
            <a:avLst/>
          </a:prstGeom>
          <a:noFill/>
          <a:ln/>
        </p:spPr>
        <p:txBody>
          <a:bodyPr wrap="square" lIns="0" tIns="0" rIns="0" bIns="0" rtlCol="0" anchor="ctr"/>
          <a:lstStyle/>
          <a:p>
            <a:pPr marL="0" indent="0">
              <a:buNone/>
            </a:pPr>
            <a:r>
              <a:rPr lang="en-US" sz="850" b="1" kern="0" spc="200" dirty="0">
                <a:solidFill>
                  <a:srgbClr val="995000"/>
                </a:solidFill>
                <a:latin typeface="Arial" pitchFamily="34" charset="0"/>
                <a:ea typeface="Arial" pitchFamily="34" charset="-122"/>
                <a:cs typeface="Arial" pitchFamily="34" charset="-120"/>
              </a:rPr>
              <a:t>CIERRE</a:t>
            </a:r>
            <a:endParaRPr lang="en-US" sz="850" dirty="0"/>
          </a:p>
        </p:txBody>
      </p:sp>
      <p:sp>
        <p:nvSpPr>
          <p:cNvPr id="16" name="title"/>
          <p:cNvSpPr txBox="1"/>
          <p:nvPr/>
        </p:nvSpPr>
        <p:spPr>
          <a:xfrm>
            <a:off x="643738" y="1337767"/>
            <a:ext cx="6434633" cy="1044245"/>
          </a:xfrm>
          <a:prstGeom prst="rect">
            <a:avLst/>
          </a:prstGeom>
          <a:noFill/>
          <a:ln/>
        </p:spPr>
        <p:txBody>
          <a:bodyPr wrap="square" lIns="0" tIns="0" rIns="0" bIns="0" rtlCol="0" anchor="t"/>
          <a:lstStyle/>
          <a:p>
            <a:pPr marL="0" indent="0">
              <a:lnSpc>
                <a:spcPct val="95000"/>
              </a:lnSpc>
              <a:buNone/>
            </a:pPr>
            <a:r>
              <a:rPr lang="en-US" sz="3600" b="1" kern="0" spc="-150" dirty="0">
                <a:solidFill>
                  <a:srgbClr val="282828"/>
                </a:solidFill>
                <a:latin typeface="Arial" pitchFamily="34" charset="0"/>
                <a:ea typeface="Arial" pitchFamily="34" charset="-122"/>
                <a:cs typeface="Arial" pitchFamily="34" charset="-120"/>
              </a:rPr>
              <a:t>Ocho módulos,</a:t>
            </a:r>
            <a:endParaRPr lang="en-US" sz="3600" dirty="0"/>
          </a:p>
          <a:p>
            <a:pPr marL="0" indent="0">
              <a:lnSpc>
                <a:spcPct val="95000"/>
              </a:lnSpc>
              <a:buNone/>
            </a:pPr>
            <a:r>
              <a:rPr lang="en-US" sz="3600" b="1" kern="0" spc="-150" dirty="0">
                <a:solidFill>
                  <a:srgbClr val="AD5500"/>
                </a:solidFill>
                <a:latin typeface="Arial" pitchFamily="34" charset="0"/>
                <a:ea typeface="Arial" pitchFamily="34" charset="-122"/>
                <a:cs typeface="Arial" pitchFamily="34" charset="-120"/>
              </a:rPr>
              <a:t>una plataforma que ya existe</a:t>
            </a:r>
            <a:endParaRPr lang="en-US" sz="3600" dirty="0"/>
          </a:p>
        </p:txBody>
      </p:sp>
      <p:sp>
        <p:nvSpPr>
          <p:cNvPr id="17" name="lead"/>
          <p:cNvSpPr txBox="1"/>
          <p:nvPr/>
        </p:nvSpPr>
        <p:spPr>
          <a:xfrm>
            <a:off x="643738" y="2540203"/>
            <a:ext cx="5757062" cy="761695"/>
          </a:xfrm>
          <a:prstGeom prst="rect">
            <a:avLst/>
          </a:prstGeom>
          <a:noFill/>
          <a:ln/>
        </p:spPr>
        <p:txBody>
          <a:bodyPr wrap="square" lIns="0" tIns="0" rIns="0" bIns="0" rtlCol="0" anchor="t"/>
          <a:lstStyle/>
          <a:p>
            <a:pPr marL="0" indent="0">
              <a:lnSpc>
                <a:spcPct val="115000"/>
              </a:lnSpc>
              <a:buNone/>
            </a:pPr>
            <a:r>
              <a:rPr lang="en-US" sz="1350" dirty="0">
                <a:solidFill>
                  <a:srgbClr val="514B46"/>
                </a:solidFill>
                <a:latin typeface="Arial" pitchFamily="34" charset="0"/>
                <a:ea typeface="Arial" pitchFamily="34" charset="-122"/>
                <a:cs typeface="Arial" pitchFamily="34" charset="-120"/>
              </a:rPr>
              <a:t>Para que adolescentes y jóvenes, incluidas las personas con discapacidad, accedan a información y herramientas digitales para decidir y participar en el monitoreo de su movilidad.</a:t>
            </a:r>
            <a:endParaRPr lang="en-US" sz="1350" dirty="0"/>
          </a:p>
        </p:txBody>
      </p:sp>
      <p:sp>
        <p:nvSpPr>
          <p:cNvPr id="18" name="f0-line"/>
          <p:cNvSpPr/>
          <p:nvPr/>
        </p:nvSpPr>
        <p:spPr>
          <a:xfrm>
            <a:off x="643738" y="3403397"/>
            <a:ext cx="5545836" cy="0"/>
          </a:xfrm>
          <a:prstGeom prst="line">
            <a:avLst/>
          </a:prstGeom>
          <a:noFill/>
          <a:ln w="9525">
            <a:solidFill>
              <a:srgbClr val="D9D5CF"/>
            </a:solidFill>
            <a:prstDash val="solid"/>
          </a:ln>
        </p:spPr>
        <p:txBody>
          <a:bodyPr/>
          <a:lstStyle/>
          <a:p>
            <a:endParaRPr lang="en-US"/>
          </a:p>
        </p:txBody>
      </p:sp>
      <p:sp>
        <p:nvSpPr>
          <p:cNvPr id="19" name="f0-n"/>
          <p:cNvSpPr txBox="1"/>
          <p:nvPr/>
        </p:nvSpPr>
        <p:spPr>
          <a:xfrm>
            <a:off x="643738" y="3504895"/>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01</a:t>
            </a:r>
            <a:endParaRPr lang="en-US" sz="800" dirty="0"/>
          </a:p>
        </p:txBody>
      </p:sp>
      <p:sp>
        <p:nvSpPr>
          <p:cNvPr id="20" name="f0"/>
          <p:cNvSpPr txBox="1"/>
          <p:nvPr/>
        </p:nvSpPr>
        <p:spPr>
          <a:xfrm>
            <a:off x="1067105" y="3488436"/>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Lo que Ampirics entrega</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Descripción de módulos con objetivo, funcionalidad, valor aportado y forma de desarrollo, y la estructura de costos en documento aparte.</a:t>
            </a:r>
            <a:endParaRPr lang="en-US" sz="1200" dirty="0"/>
          </a:p>
        </p:txBody>
      </p:sp>
      <p:sp>
        <p:nvSpPr>
          <p:cNvPr id="21" name="f1-line"/>
          <p:cNvSpPr/>
          <p:nvPr/>
        </p:nvSpPr>
        <p:spPr>
          <a:xfrm>
            <a:off x="643738" y="4144975"/>
            <a:ext cx="5545836" cy="0"/>
          </a:xfrm>
          <a:prstGeom prst="line">
            <a:avLst/>
          </a:prstGeom>
          <a:noFill/>
          <a:ln w="9525">
            <a:solidFill>
              <a:srgbClr val="D9D5CF"/>
            </a:solidFill>
            <a:prstDash val="solid"/>
          </a:ln>
        </p:spPr>
        <p:txBody>
          <a:bodyPr/>
          <a:lstStyle/>
          <a:p>
            <a:endParaRPr lang="en-US"/>
          </a:p>
        </p:txBody>
      </p:sp>
      <p:sp>
        <p:nvSpPr>
          <p:cNvPr id="22" name="f1-n"/>
          <p:cNvSpPr txBox="1"/>
          <p:nvPr/>
        </p:nvSpPr>
        <p:spPr>
          <a:xfrm>
            <a:off x="643738" y="4246474"/>
            <a:ext cx="304495" cy="152705"/>
          </a:xfrm>
          <a:prstGeom prst="rect">
            <a:avLst/>
          </a:prstGeom>
          <a:noFill/>
          <a:ln/>
        </p:spPr>
        <p:txBody>
          <a:bodyPr wrap="square" lIns="0" tIns="0" rIns="0" bIns="0" rtlCol="0" anchor="ctr"/>
          <a:lstStyle/>
          <a:p>
            <a:pPr marL="0" indent="0">
              <a:buNone/>
            </a:pPr>
            <a:r>
              <a:rPr lang="en-US" sz="800" dirty="0">
                <a:solidFill>
                  <a:srgbClr val="655B54"/>
                </a:solidFill>
                <a:latin typeface="Arial" pitchFamily="34" charset="0"/>
                <a:ea typeface="Arial" pitchFamily="34" charset="-122"/>
                <a:cs typeface="Arial" pitchFamily="34" charset="-120"/>
              </a:rPr>
              <a:t>02</a:t>
            </a:r>
            <a:endParaRPr lang="en-US" sz="800" dirty="0"/>
          </a:p>
        </p:txBody>
      </p:sp>
      <p:sp>
        <p:nvSpPr>
          <p:cNvPr id="23" name="f1"/>
          <p:cNvSpPr txBox="1"/>
          <p:nvPr/>
        </p:nvSpPr>
        <p:spPr>
          <a:xfrm>
            <a:off x="1067105" y="4230014"/>
            <a:ext cx="5122469" cy="657454"/>
          </a:xfrm>
          <a:prstGeom prst="rect">
            <a:avLst/>
          </a:prstGeom>
          <a:noFill/>
          <a:ln/>
        </p:spPr>
        <p:txBody>
          <a:bodyPr wrap="square" lIns="0" tIns="0" rIns="0" bIns="0" rtlCol="0" anchor="t"/>
          <a:lstStyle/>
          <a:p>
            <a:pPr marL="0" indent="0">
              <a:lnSpc>
                <a:spcPct val="112000"/>
              </a:lnSpc>
              <a:buNone/>
            </a:pPr>
            <a:r>
              <a:rPr lang="en-US" sz="1200" b="1" dirty="0">
                <a:solidFill>
                  <a:srgbClr val="282828"/>
                </a:solidFill>
                <a:latin typeface="Arial" pitchFamily="34" charset="0"/>
                <a:ea typeface="Arial" pitchFamily="34" charset="-122"/>
                <a:cs typeface="Arial" pitchFamily="34" charset="-120"/>
              </a:rPr>
              <a:t>Lo que hace Entrena</a:t>
            </a:r>
            <a:endParaRPr lang="en-US" sz="1200" dirty="0"/>
          </a:p>
          <a:p>
            <a:pPr marL="0" indent="0">
              <a:lnSpc>
                <a:spcPct val="112000"/>
              </a:lnSpc>
              <a:buNone/>
            </a:pPr>
            <a:r>
              <a:rPr lang="en-US" sz="1000" dirty="0">
                <a:solidFill>
                  <a:srgbClr val="655B54"/>
                </a:solidFill>
                <a:latin typeface="Arial" pitchFamily="34" charset="0"/>
                <a:ea typeface="Arial" pitchFamily="34" charset="-122"/>
                <a:cs typeface="Arial" pitchFamily="34" charset="-120"/>
              </a:rPr>
              <a:t>Incorpora y explica la solución en el formulario de la Unión Europea, y lidera el trabajo con las comunidades.</a:t>
            </a:r>
            <a:endParaRPr lang="en-US" sz="1200" dirty="0"/>
          </a:p>
        </p:txBody>
      </p:sp>
      <p:sp>
        <p:nvSpPr>
          <p:cNvPr id="24" name="contact"/>
          <p:cNvSpPr txBox="1"/>
          <p:nvPr/>
        </p:nvSpPr>
        <p:spPr>
          <a:xfrm>
            <a:off x="643738" y="5005426"/>
            <a:ext cx="5757062" cy="423367"/>
          </a:xfrm>
          <a:prstGeom prst="rect">
            <a:avLst/>
          </a:prstGeom>
          <a:noFill/>
          <a:ln/>
        </p:spPr>
        <p:txBody>
          <a:bodyPr wrap="square" lIns="0" tIns="0" rIns="0" bIns="0" rtlCol="0" anchor="t"/>
          <a:lstStyle/>
          <a:p>
            <a:pPr marL="0" indent="0">
              <a:spcBef>
                <a:spcPts val="300"/>
              </a:spcBef>
              <a:buNone/>
            </a:pPr>
            <a:r>
              <a:rPr lang="en-US" sz="1200" b="1" dirty="0">
                <a:solidFill>
                  <a:srgbClr val="282828"/>
                </a:solidFill>
                <a:latin typeface="Arial" pitchFamily="34" charset="0"/>
                <a:ea typeface="Arial" pitchFamily="34" charset="-122"/>
                <a:cs typeface="Arial" pitchFamily="34" charset="-120"/>
              </a:rPr>
              <a:t>contacto@ampirics.com</a:t>
            </a:r>
            <a:endParaRPr lang="en-US" sz="1200" dirty="0"/>
          </a:p>
          <a:p>
            <a:pPr marL="0" indent="0">
              <a:spcBef>
                <a:spcPts val="300"/>
              </a:spcBef>
              <a:buNone/>
            </a:pPr>
            <a:r>
              <a:rPr lang="en-US" sz="900" dirty="0">
                <a:solidFill>
                  <a:srgbClr val="655B54"/>
                </a:solidFill>
                <a:latin typeface="Arial" pitchFamily="34" charset="0"/>
                <a:ea typeface="Arial" pitchFamily="34" charset="-122"/>
                <a:cs typeface="Arial" pitchFamily="34" charset="-120"/>
              </a:rPr>
              <a:t>Ampirics Technologies · Descripción de módulos para la propuesta Generación Móvil · Producto 3.1</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5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65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78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2958</Words>
  <Application>Microsoft Macintosh PowerPoint</Application>
  <PresentationFormat>Widescreen</PresentationFormat>
  <Paragraphs>359</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Transporte Futura · Generación Móvil</dc:title>
  <dc:subject>PptxGenJS Presentation</dc:subject>
  <dc:creator>Ampirics Technologies</dc:creator>
  <cp:lastModifiedBy>Cristian Sanchez Ramirez</cp:lastModifiedBy>
  <cp:revision>6</cp:revision>
  <dcterms:created xsi:type="dcterms:W3CDTF">2026-09-05T16:09:57Z</dcterms:created>
  <dcterms:modified xsi:type="dcterms:W3CDTF">2026-09-05T16:44:37Z</dcterms:modified>
</cp:coreProperties>
</file>